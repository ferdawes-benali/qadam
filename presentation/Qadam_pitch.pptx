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fb418d4d-003c-6af5-fac9-da671e2f93d3}">
          <p14:sldIdLst>
            <p14:sldId id="256"/>
          </p14:sldIdLst>
        </p14:section>
        <p14:section name="Problème" id="{b535d0df-40f5-851b-0093-c744cb85354b}">
          <p14:sldIdLst>
            <p14:sldId id="257"/>
            <p14:sldId id="258"/>
          </p14:sldIdLst>
        </p14:section>
        <p14:section name="Solution" id="{ff697880-531c-942b-f0a8-723fa13158d2}">
          <p14:sldIdLst>
            <p14:sldId id="259"/>
            <p14:sldId id="260"/>
          </p14:sldIdLst>
        </p14:section>
        <p14:section name="Démonstration" id="{d3a7945d-09db-f72e-1378-792e1f4f6e45}">
          <p14:sldIdLst>
            <p14:sldId id="261"/>
          </p14:sldIdLst>
        </p14:section>
        <p14:section name="Technologie" id="{e5dfb4a6-9fca-c2e7-d2d4-30432597502c}">
          <p14:sldIdLst>
            <p14:sldId id="262"/>
            <p14:sldId id="263"/>
          </p14:sldIdLst>
        </p14:section>
        <p14:section name="Marché et modèle" id="{01d56bf6-e532-e8c5-25a4-13b8cefabb9e}">
          <p14:sldIdLst>
            <p14:sldId id="264"/>
            <p14:sldId id="265"/>
            <p14:sldId id="266"/>
          </p14:sldIdLst>
        </p14:section>
        <p14:section name="Confiance et feuille de route" id="{a1aba458-2f08-ce94-365e-820f0886aecc}">
          <p14:sldIdLst>
            <p14:sldId id="267"/>
            <p14:sldId id="268"/>
          </p14:sldIdLst>
        </p14:section>
        <p14:section name="Conclusion" id="{dbfbf6d6-9bf9-c4c0-f1c8-f49744adb22e}">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قدم يعني خطوة… وقدم يعني الساق. » Qadam veut dire le pied, et le pas. Nous avons construit un pas de 10 secondes par jour qui peut éviter une amputation.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Am Hédi — un personnage fictif, mais vous le connaissez tous. 62 ans, diabétique depuis 15 ans, une plaie au pied l'an dernier, il ne sent plus bien ses pieds. L'hiver, il les chauffe près du kanoun. Une inflammation commence sous son avant-pied droit : il ne la sent pas. En Tunisie, 1,4 million d'adultes vivent avec le diabète ; un sur trois ne le sait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Aujourd'hui, la surveillance repose sur l'auto-examen : à Tunis, seuls 22 % des patients hospitalisés regardent leurs pieds chaque jour. Pourtant la science a un signal simple : un point plus chaud de 2,2 °C que le même point de l'autre pied, deux jours de suite. Ce suivi à domicile divise par deux le risque d'ulcère — mais les outils existants sont importés, en anglais, et génèrent beaucoup de fausses alertes.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Qadam : un tapis, une app en derja, un tableau de bord pour l'équipe soignante. Le patient monte 10 secondes sur le tapis. Qadam compare gauche et droite, explique le résultat, dit quoi faire, et prévient le soignant — qui décide.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 on découvre la plaie, urgence, parfois amputation. Avec Qadam : alerte orange au jour 1, rouge au jour 2, le médecin confirme, rendez-vous le lendemain, décharge du pied.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en direct — voir docs/demo-script.md. Scan vert → on chauffe le capteur droit → orange → rouge en derja → tableau de bord → preuves → confirmer en 3 étapes → le patient voit la décision → un signe de danger dans l'assistant est traité sans IA. Repli : bridge --simulate, touche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Arduino, deux capteurs, trames vérifiées par CRC, MQTT, un hub FastAPI conteneurisé, une app Flutter hors ligne et chiffrée. La détection est une règle publiée, testée dans deux langages. L'IA ne décide rien : elle explique, en derja, après un filtre de sécurité fixe.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que nous avons prouvé aujourd'hui : la chaîne complète fonctionne, 51 tests automatisés passent. Ce que nous n'avons pas encore prouvé : le bénéfice clinique en Tunisie. Notre pilote mesurera l'adhésion, la précision des alertes, le délai de revue et les ulcères détectés avant ouverture.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segment : les patients à haut risque suivis par les cliniques et endocrinologues privés à Tunis, Sfax, Sousse. Puis les services publics, puis la CNAM. Puis le Maghreb.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clinique paie un abonnement par patient suivi, tapis prêté inclus. Le journal glycémie et l'éducation restent gratuits. Objectif : remboursement CNAM sur preuves. Ces prix sont des hypothèses que le pilote validera.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service d'endocrinologie partenaire pour le pilote, les pharmacies comme points de distribution, et des coûts maîtrisés : tapis à moins de 220 TND, un serveur par clinique.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Recommandation consultative, validation humaine, indice de confiance, mode démo et simulation toujours étiquetés. Avant un vrai pilote : déclaration INPDP, hébergement agréé, comité d'éthique, qualification dispositif médical.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mois : tapis 8 capteurs de contact, calibration, protocole. 6 mois : pilote de 30 à 50 patients. Ensuite : semelle, intégration hospitalière.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amputation commence souvent par une chaleur que personne ne sent. Qadam la rend visible — et laisse le médecin décider. Un pas par jour, pour garder ses pieds.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682935" y="6309360"/>
            <a:ext cx="868680" cy="548640"/>
          </a:xfrm>
          <a:prstGeom prst="rect">
            <a:avLst/>
          </a:prstGeom>
        </p:spPr>
      </p:pic>
      <p:sp>
        <p:nvSpPr>
          <p:cNvPr id="3" name="Text 0"/>
          <p:cNvSpPr/>
          <p:nvPr>
            <p:ph idx="101" type="title" hasCustomPrompt="1"/>
          </p:nvPr>
        </p:nvSpPr>
        <p:spPr>
          <a:xfrm>
            <a:off x="548640" y="411480"/>
            <a:ext cx="11094415" cy="822960"/>
          </a:xfrm>
          <a:prstGeom prst="rect">
            <a:avLst/>
          </a:prstGeom>
          <a:noFill/>
          <a:ln/>
        </p:spPr>
        <p:txBody>
          <a:bodyPr wrap="square" rtlCol="0"/>
          <a:lstStyle>
            <a:lvl1pPr algn="l" indent="0" marL="0">
              <a:buNone/>
              <a:defRPr lang="en-US" sz="3400" b="1" dirty="0">
                <a:solidFill>
                  <a:srgbClr val="102D4B"/>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02D4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669280" cy="6858000"/>
          </a:xfrm>
          <a:prstGeom prst="rect">
            <a:avLst/>
          </a:prstGeom>
          <a:solidFill>
            <a:srgbClr val="FFFFFF"/>
          </a:solidFill>
          <a:ln w="12700">
            <a:solidFill>
              <a:srgbClr val="FFFFFF"/>
            </a:solidFill>
            <a:prstDash val="solid"/>
          </a:ln>
        </p:spPr>
      </p:sp>
      <p:pic>
        <p:nvPicPr>
          <p:cNvPr id="3" name="Image 0" descr="preencoded.png">    </p:cNvPr>
          <p:cNvPicPr>
            <a:picLocks noChangeAspect="1"/>
          </p:cNvPicPr>
          <p:nvPr/>
        </p:nvPicPr>
        <p:blipFill>
          <a:blip r:embed="rId1"/>
          <a:stretch>
            <a:fillRect/>
          </a:stretch>
        </p:blipFill>
        <p:spPr>
          <a:xfrm>
            <a:off x="822960" y="1965960"/>
            <a:ext cx="4023360" cy="2545549"/>
          </a:xfrm>
          <a:prstGeom prst="rect">
            <a:avLst/>
          </a:prstGeom>
        </p:spPr>
      </p:pic>
      <p:sp>
        <p:nvSpPr>
          <p:cNvPr id="4" name="Text 1"/>
          <p:cNvSpPr txBox="1"/>
          <p:nvPr/>
        </p:nvSpPr>
        <p:spPr>
          <a:xfrm>
            <a:off x="822960" y="4846320"/>
            <a:ext cx="4206240" cy="365760"/>
          </a:xfrm>
          <a:prstGeom prst="rect">
            <a:avLst/>
          </a:prstGeom>
          <a:noFill/>
          <a:ln/>
        </p:spPr>
        <p:txBody>
          <a:bodyPr wrap="square" lIns="0" tIns="0" rIns="0" bIns="0" rtlCol="0" anchor="ctr"/>
          <a:lstStyle/>
          <a:p>
            <a:pPr indent="0" marL="0">
              <a:buNone/>
            </a:pPr>
            <a:r>
              <a:rPr lang="en-US" sz="1400" dirty="0">
                <a:solidFill>
                  <a:srgbClr val="5F6B78"/>
                </a:solidFill>
              </a:rPr>
              <a:t>HackCure 2026 · Track IoT</a:t>
            </a:r>
            <a:endParaRPr lang="en-US" sz="1400" dirty="0"/>
          </a:p>
        </p:txBody>
      </p:sp>
      <p:sp>
        <p:nvSpPr>
          <p:cNvPr id="5" name="Text 2"/>
          <p:cNvSpPr txBox="1"/>
          <p:nvPr/>
        </p:nvSpPr>
        <p:spPr>
          <a:xfrm>
            <a:off x="6309360" y="1737360"/>
            <a:ext cx="5303520" cy="1737360"/>
          </a:xfrm>
          <a:prstGeom prst="rect">
            <a:avLst/>
          </a:prstGeom>
          <a:noFill/>
          <a:ln/>
        </p:spPr>
        <p:txBody>
          <a:bodyPr wrap="square" lIns="0" tIns="0" rIns="0" bIns="0" rtlCol="0" anchor="t"/>
          <a:lstStyle/>
          <a:p>
            <a:pPr indent="0" marL="0">
              <a:buNone/>
            </a:pPr>
            <a:r>
              <a:rPr lang="en-US" sz="4000" b="1" dirty="0">
                <a:solidFill>
                  <a:srgbClr val="FFFFFF"/>
                </a:solidFill>
              </a:rPr>
              <a:t>Un pas par jour</a:t>
            </a:r>
            <a:endParaRPr lang="en-US" sz="4000" dirty="0"/>
          </a:p>
          <a:p>
            <a:pPr indent="0" marL="0">
              <a:buNone/>
            </a:pPr>
            <a:r>
              <a:rPr lang="en-US" sz="4000" b="1" dirty="0">
                <a:solidFill>
                  <a:srgbClr val="FFFFFF"/>
                </a:solidFill>
              </a:rPr>
              <a:t>pour garder ses pieds</a:t>
            </a:r>
            <a:endParaRPr lang="en-US" sz="4000" dirty="0"/>
          </a:p>
        </p:txBody>
      </p:sp>
      <p:sp>
        <p:nvSpPr>
          <p:cNvPr id="6" name="Text 3"/>
          <p:cNvSpPr txBox="1"/>
          <p:nvPr/>
        </p:nvSpPr>
        <p:spPr>
          <a:xfrm>
            <a:off x="6309360" y="3657600"/>
            <a:ext cx="5120640" cy="1188720"/>
          </a:xfrm>
          <a:prstGeom prst="rect">
            <a:avLst/>
          </a:prstGeom>
          <a:noFill/>
          <a:ln/>
        </p:spPr>
        <p:txBody>
          <a:bodyPr wrap="square" lIns="0" tIns="0" rIns="0" bIns="0" rtlCol="0" anchor="t"/>
          <a:lstStyle/>
          <a:p>
            <a:pPr indent="0" marL="0">
              <a:buNone/>
            </a:pPr>
            <a:r>
              <a:rPr lang="en-US" sz="1800" dirty="0">
                <a:solidFill>
                  <a:srgbClr val="E4EFF8"/>
                </a:solidFill>
              </a:rPr>
              <a:t>Qadam repère, à la maison, l'inflammation qui précède la plaie du pied diabétique — et laisse le soignant décider.</a:t>
            </a:r>
            <a:endParaRPr lang="en-US" sz="1800" dirty="0"/>
          </a:p>
        </p:txBody>
      </p:sp>
      <p:sp>
        <p:nvSpPr>
          <p:cNvPr id="7" name="Text 4"/>
          <p:cNvSpPr txBox="1"/>
          <p:nvPr/>
        </p:nvSpPr>
        <p:spPr>
          <a:xfrm>
            <a:off x="6309360" y="5120640"/>
            <a:ext cx="5120640" cy="457200"/>
          </a:xfrm>
          <a:prstGeom prst="rect">
            <a:avLst/>
          </a:prstGeom>
          <a:noFill/>
          <a:ln/>
        </p:spPr>
        <p:txBody>
          <a:bodyPr wrap="square" lIns="0" tIns="0" rIns="0" bIns="0" rtlCol="0" anchor="ctr"/>
          <a:lstStyle/>
          <a:p>
            <a:pPr rtl="1" algn="l" indent="0" marL="0">
              <a:buNone/>
            </a:pPr>
            <a:r>
              <a:rPr lang="en-US" sz="1800" dirty="0">
                <a:solidFill>
                  <a:srgbClr val="8DBADB"/>
                </a:solidFill>
              </a:rPr>
              <a:t>قدم — خطوة كل نهار باش تحافظ على ساقيك</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1F4C78"/>
                </a:solidFill>
              </a:rPr>
              <a:t>LE PROBLÈME HUMAIN</a:t>
            </a:r>
            <a:endParaRPr lang="en-US" sz="1100" dirty="0"/>
          </a:p>
        </p:txBody>
      </p:sp>
      <p:sp>
        <p:nvSpPr>
          <p:cNvPr id="3" name="Text 0"/>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rgbClr val="102D4B"/>
                </a:solidFill>
              </a:rPr>
              <a:t>Une inflammation que personne ne sent</a:t>
            </a:r>
            <a:endParaRPr lang="en-US" sz="3400" dirty="0"/>
          </a:p>
        </p:txBody>
      </p:sp>
      <p:sp>
        <p:nvSpPr>
          <p:cNvPr id="4" name="Shape 2"/>
          <p:cNvSpPr/>
          <p:nvPr/>
        </p:nvSpPr>
        <p:spPr>
          <a:xfrm>
            <a:off x="548640" y="1417320"/>
            <a:ext cx="5486400" cy="4480560"/>
          </a:xfrm>
          <a:prstGeom prst="roundRect">
            <a:avLst>
              <a:gd name="adj" fmla="val 2449"/>
            </a:avLst>
          </a:prstGeom>
          <a:solidFill>
            <a:srgbClr val="F2F7FC"/>
          </a:solidFill>
          <a:ln w="12700">
            <a:solidFill>
              <a:srgbClr val="F2F7FC"/>
            </a:solidFill>
            <a:prstDash val="solid"/>
          </a:ln>
        </p:spPr>
      </p:sp>
      <p:sp>
        <p:nvSpPr>
          <p:cNvPr id="5" name="Shape 3"/>
          <p:cNvSpPr/>
          <p:nvPr/>
        </p:nvSpPr>
        <p:spPr>
          <a:xfrm>
            <a:off x="868680" y="1691640"/>
            <a:ext cx="731520" cy="731520"/>
          </a:xfrm>
          <a:prstGeom prst="ellipse">
            <a:avLst/>
          </a:prstGeom>
          <a:solidFill>
            <a:srgbClr val="E4EFF8"/>
          </a:solidFill>
          <a:ln w="12700">
            <a:solidFill>
              <a:srgbClr val="E4EFF8"/>
            </a:solidFill>
            <a:prstDash val="solid"/>
          </a:ln>
        </p:spPr>
      </p:sp>
      <p:pic>
        <p:nvPicPr>
          <p:cNvPr id="6" name="Image 0" descr="preencoded.png">    </p:cNvPr>
          <p:cNvPicPr>
            <a:picLocks noChangeAspect="1"/>
          </p:cNvPicPr>
          <p:nvPr/>
        </p:nvPicPr>
        <p:blipFill>
          <a:blip r:embed="rId1"/>
          <a:stretch>
            <a:fillRect/>
          </a:stretch>
        </p:blipFill>
        <p:spPr>
          <a:xfrm>
            <a:off x="1029614" y="1852574"/>
            <a:ext cx="409651" cy="409651"/>
          </a:xfrm>
          <a:prstGeom prst="rect">
            <a:avLst/>
          </a:prstGeom>
        </p:spPr>
      </p:pic>
      <p:sp>
        <p:nvSpPr>
          <p:cNvPr id="7" name="Text 4"/>
          <p:cNvSpPr txBox="1"/>
          <p:nvPr/>
        </p:nvSpPr>
        <p:spPr>
          <a:xfrm>
            <a:off x="1783080" y="1691640"/>
            <a:ext cx="4114800" cy="777240"/>
          </a:xfrm>
          <a:prstGeom prst="rect">
            <a:avLst/>
          </a:prstGeom>
          <a:noFill/>
          <a:ln/>
        </p:spPr>
        <p:txBody>
          <a:bodyPr wrap="square" lIns="0" tIns="0" rIns="0" bIns="0" rtlCol="0" anchor="ctr"/>
          <a:lstStyle/>
          <a:p>
            <a:pPr indent="0" marL="0">
              <a:buNone/>
            </a:pPr>
            <a:r>
              <a:rPr lang="en-US" sz="2000" b="1" dirty="0">
                <a:solidFill>
                  <a:srgbClr val="102D4B"/>
                </a:solidFill>
              </a:rPr>
              <a:t>Am Hédi, 62 ans</a:t>
            </a:r>
            <a:endParaRPr lang="en-US" sz="2000" dirty="0"/>
          </a:p>
          <a:p>
            <a:pPr indent="0" marL="0">
              <a:buNone/>
            </a:pPr>
            <a:r>
              <a:rPr lang="en-US" sz="1200" i="1" dirty="0">
                <a:solidFill>
                  <a:srgbClr val="5F6B78"/>
                </a:solidFill>
              </a:rPr>
              <a:t>Persona fictif, construit à partir de profils typiques</a:t>
            </a:r>
            <a:endParaRPr lang="en-US" sz="2000" dirty="0"/>
          </a:p>
        </p:txBody>
      </p:sp>
      <p:sp>
        <p:nvSpPr>
          <p:cNvPr id="8" name="Text 5"/>
          <p:cNvSpPr txBox="1"/>
          <p:nvPr/>
        </p:nvSpPr>
        <p:spPr>
          <a:xfrm>
            <a:off x="868680" y="2697480"/>
            <a:ext cx="4937760"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02D4B"/>
                </a:solidFill>
              </a:rPr>
              <a:t>Diabète de type 2 depuis 15 ans, plaie au pied guérie l'an dernier</a:t>
            </a:r>
            <a:endParaRPr lang="en-US" sz="1600" dirty="0"/>
          </a:p>
          <a:p>
            <a:pPr marL="342900" indent="-342900">
              <a:spcAft>
                <a:spcPts val="1000"/>
              </a:spcAft>
              <a:buSzPct val="100000"/>
              <a:buChar char="•"/>
            </a:pPr>
            <a:r>
              <a:rPr lang="en-US" sz="1600" dirty="0">
                <a:solidFill>
                  <a:srgbClr val="102D4B"/>
                </a:solidFill>
              </a:rPr>
              <a:t>Ne sent plus bien ses pieds (neuropathie)</a:t>
            </a:r>
            <a:endParaRPr lang="en-US" sz="1600" dirty="0"/>
          </a:p>
          <a:p>
            <a:pPr marL="342900" indent="-342900">
              <a:spcAft>
                <a:spcPts val="1000"/>
              </a:spcAft>
              <a:buSzPct val="100000"/>
              <a:buChar char="•"/>
            </a:pPr>
            <a:r>
              <a:rPr lang="en-US" sz="1600" dirty="0">
                <a:solidFill>
                  <a:srgbClr val="102D4B"/>
                </a:solidFill>
              </a:rPr>
              <a:t>L'hiver, il chauffe ses pieds près du kanoun</a:t>
            </a:r>
            <a:endParaRPr lang="en-US" sz="1600" dirty="0"/>
          </a:p>
          <a:p>
            <a:pPr marL="342900" indent="-342900">
              <a:spcAft>
                <a:spcPts val="1000"/>
              </a:spcAft>
              <a:buSzPct val="100000"/>
              <a:buChar char="•"/>
            </a:pPr>
            <a:r>
              <a:rPr lang="en-US" sz="1600" dirty="0">
                <a:solidFill>
                  <a:srgbClr val="102D4B"/>
                </a:solidFill>
              </a:rPr>
              <a:t>Une zone chauffe sous son avant-pied droit : il ne la sent pas. Quand la plaie apparaîtra, ce sera tard.</a:t>
            </a:r>
            <a:endParaRPr lang="en-US" sz="1600" dirty="0"/>
          </a:p>
        </p:txBody>
      </p:sp>
      <p:sp>
        <p:nvSpPr>
          <p:cNvPr id="9" name="Text 6"/>
          <p:cNvSpPr txBox="1"/>
          <p:nvPr/>
        </p:nvSpPr>
        <p:spPr>
          <a:xfrm>
            <a:off x="6583680" y="1325880"/>
            <a:ext cx="5120640" cy="868680"/>
          </a:xfrm>
          <a:prstGeom prst="rect">
            <a:avLst/>
          </a:prstGeom>
          <a:noFill/>
          <a:ln/>
        </p:spPr>
        <p:txBody>
          <a:bodyPr wrap="square" lIns="0" tIns="0" rIns="0" bIns="0" rtlCol="0" anchor="b"/>
          <a:lstStyle/>
          <a:p>
            <a:pPr indent="0" marL="0">
              <a:buNone/>
            </a:pPr>
            <a:r>
              <a:rPr lang="en-US" sz="5400" b="1" dirty="0">
                <a:solidFill>
                  <a:srgbClr val="102D4B"/>
                </a:solidFill>
              </a:rPr>
              <a:t>1,39 million</a:t>
            </a:r>
            <a:endParaRPr lang="en-US" sz="5400" dirty="0"/>
          </a:p>
        </p:txBody>
      </p:sp>
      <p:sp>
        <p:nvSpPr>
          <p:cNvPr id="10" name="Text 7"/>
          <p:cNvSpPr txBox="1"/>
          <p:nvPr/>
        </p:nvSpPr>
        <p:spPr>
          <a:xfrm>
            <a:off x="6583680" y="2221992"/>
            <a:ext cx="5120640" cy="502920"/>
          </a:xfrm>
          <a:prstGeom prst="rect">
            <a:avLst/>
          </a:prstGeom>
          <a:noFill/>
          <a:ln/>
        </p:spPr>
        <p:txBody>
          <a:bodyPr wrap="square" lIns="0" tIns="0" rIns="0" bIns="0" rtlCol="0" anchor="t"/>
          <a:lstStyle/>
          <a:p>
            <a:pPr indent="0" marL="0">
              <a:buNone/>
            </a:pPr>
            <a:r>
              <a:rPr lang="en-US" sz="1500" dirty="0">
                <a:solidFill>
                  <a:srgbClr val="4A5B6E"/>
                </a:solidFill>
              </a:rPr>
              <a:t>d'adultes tunisiens vivent avec le diabète (prévalence standardisée 16 %)</a:t>
            </a:r>
            <a:endParaRPr lang="en-US" sz="1500" dirty="0"/>
          </a:p>
        </p:txBody>
      </p:sp>
      <p:sp>
        <p:nvSpPr>
          <p:cNvPr id="11" name="Text 8"/>
          <p:cNvSpPr txBox="1"/>
          <p:nvPr/>
        </p:nvSpPr>
        <p:spPr>
          <a:xfrm>
            <a:off x="6583680" y="2880360"/>
            <a:ext cx="5120640" cy="868680"/>
          </a:xfrm>
          <a:prstGeom prst="rect">
            <a:avLst/>
          </a:prstGeom>
          <a:noFill/>
          <a:ln/>
        </p:spPr>
        <p:txBody>
          <a:bodyPr wrap="square" lIns="0" tIns="0" rIns="0" bIns="0" rtlCol="0" anchor="b"/>
          <a:lstStyle/>
          <a:p>
            <a:pPr indent="0" marL="0">
              <a:buNone/>
            </a:pPr>
            <a:r>
              <a:rPr lang="en-US" sz="5400" b="1" dirty="0">
                <a:solidFill>
                  <a:srgbClr val="1F4C78"/>
                </a:solidFill>
              </a:rPr>
              <a:t>1 sur 3</a:t>
            </a:r>
            <a:endParaRPr lang="en-US" sz="5400" dirty="0"/>
          </a:p>
        </p:txBody>
      </p:sp>
      <p:sp>
        <p:nvSpPr>
          <p:cNvPr id="12" name="Text 9"/>
          <p:cNvSpPr txBox="1"/>
          <p:nvPr/>
        </p:nvSpPr>
        <p:spPr>
          <a:xfrm>
            <a:off x="6583680" y="3776472"/>
            <a:ext cx="5120640" cy="502920"/>
          </a:xfrm>
          <a:prstGeom prst="rect">
            <a:avLst/>
          </a:prstGeom>
          <a:noFill/>
          <a:ln/>
        </p:spPr>
        <p:txBody>
          <a:bodyPr wrap="square" lIns="0" tIns="0" rIns="0" bIns="0" rtlCol="0" anchor="t"/>
          <a:lstStyle/>
          <a:p>
            <a:pPr indent="0" marL="0">
              <a:buNone/>
            </a:pPr>
            <a:r>
              <a:rPr lang="en-US" sz="1500" dirty="0">
                <a:solidFill>
                  <a:srgbClr val="4A5B6E"/>
                </a:solidFill>
              </a:rPr>
              <a:t>ne sait pas qu'il est diabétique (31,7 % non diagnostiqués)</a:t>
            </a:r>
            <a:endParaRPr lang="en-US" sz="1500" dirty="0"/>
          </a:p>
        </p:txBody>
      </p:sp>
      <p:sp>
        <p:nvSpPr>
          <p:cNvPr id="13" name="Text 10"/>
          <p:cNvSpPr txBox="1"/>
          <p:nvPr/>
        </p:nvSpPr>
        <p:spPr>
          <a:xfrm>
            <a:off x="6583680" y="4434840"/>
            <a:ext cx="5120640" cy="868680"/>
          </a:xfrm>
          <a:prstGeom prst="rect">
            <a:avLst/>
          </a:prstGeom>
          <a:noFill/>
          <a:ln/>
        </p:spPr>
        <p:txBody>
          <a:bodyPr wrap="square" lIns="0" tIns="0" rIns="0" bIns="0" rtlCol="0" anchor="b"/>
          <a:lstStyle/>
          <a:p>
            <a:pPr indent="0" marL="0">
              <a:buNone/>
            </a:pPr>
            <a:r>
              <a:rPr lang="en-US" sz="5400" b="1" dirty="0">
                <a:solidFill>
                  <a:srgbClr val="B42318"/>
                </a:solidFill>
              </a:rPr>
              <a:t>19 – 34 %</a:t>
            </a:r>
            <a:endParaRPr lang="en-US" sz="5400" dirty="0"/>
          </a:p>
        </p:txBody>
      </p:sp>
      <p:sp>
        <p:nvSpPr>
          <p:cNvPr id="14" name="Text 11"/>
          <p:cNvSpPr txBox="1"/>
          <p:nvPr/>
        </p:nvSpPr>
        <p:spPr>
          <a:xfrm>
            <a:off x="6583680" y="5330952"/>
            <a:ext cx="5120640" cy="502920"/>
          </a:xfrm>
          <a:prstGeom prst="rect">
            <a:avLst/>
          </a:prstGeom>
          <a:noFill/>
          <a:ln/>
        </p:spPr>
        <p:txBody>
          <a:bodyPr wrap="square" lIns="0" tIns="0" rIns="0" bIns="0" rtlCol="0" anchor="t"/>
          <a:lstStyle/>
          <a:p>
            <a:pPr indent="0" marL="0">
              <a:buNone/>
            </a:pPr>
            <a:r>
              <a:rPr lang="en-US" sz="1500" dirty="0">
                <a:solidFill>
                  <a:srgbClr val="4A5B6E"/>
                </a:solidFill>
              </a:rPr>
              <a:t>des personnes diabétiques auront un ulcère du pied au cours de leur vie</a:t>
            </a:r>
            <a:endParaRPr lang="en-US" sz="1500" dirty="0"/>
          </a:p>
        </p:txBody>
      </p:sp>
      <p:sp>
        <p:nvSpPr>
          <p:cNvPr id="15" name="Text 12"/>
          <p:cNvSpPr txBox="1"/>
          <p:nvPr/>
        </p:nvSpPr>
        <p:spPr>
          <a:xfrm>
            <a:off x="1188720" y="6355080"/>
            <a:ext cx="9265615" cy="320040"/>
          </a:xfrm>
          <a:prstGeom prst="rect">
            <a:avLst/>
          </a:prstGeom>
          <a:noFill/>
          <a:ln/>
        </p:spPr>
        <p:txBody>
          <a:bodyPr wrap="square" lIns="0" tIns="0" rIns="0" bIns="0" rtlCol="0" anchor="ctr"/>
          <a:lstStyle/>
          <a:p>
            <a:pPr indent="0" marL="0">
              <a:buNone/>
            </a:pPr>
            <a:r>
              <a:rPr lang="en-US" sz="1000" dirty="0">
                <a:solidFill>
                  <a:srgbClr val="5F6B78"/>
                </a:solidFill>
              </a:rPr>
              <a:t>Sources : IDF Diabetes Atlas, Tunisie, estimations 2024 · Armstrong, Boulton &amp; Bus, NEJM 2017</a:t>
            </a:r>
            <a:endParaRPr lang="en-US"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1F4C78"/>
                </a:solidFill>
              </a:rPr>
              <a:t>POURQUOI L'EXISTANT NE SUFFIT PAS</a:t>
            </a:r>
            <a:endParaRPr lang="en-US" sz="1100" dirty="0"/>
          </a:p>
        </p:txBody>
      </p:sp>
      <p:sp>
        <p:nvSpPr>
          <p:cNvPr id="3" name="Text 0"/>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rgbClr val="102D4B"/>
                </a:solidFill>
              </a:rPr>
              <a:t>Entre deux consultations, personne ne regarde</a:t>
            </a:r>
            <a:endParaRPr lang="en-US" sz="3400" dirty="0"/>
          </a:p>
        </p:txBody>
      </p:sp>
      <p:sp>
        <p:nvSpPr>
          <p:cNvPr id="4" name="Shape 2"/>
          <p:cNvSpPr/>
          <p:nvPr/>
        </p:nvSpPr>
        <p:spPr>
          <a:xfrm>
            <a:off x="548640" y="1463040"/>
            <a:ext cx="3520440" cy="4526280"/>
          </a:xfrm>
          <a:prstGeom prst="roundRect">
            <a:avLst>
              <a:gd name="adj" fmla="val 3117"/>
            </a:avLst>
          </a:prstGeom>
          <a:solidFill>
            <a:srgbClr val="F2F7FC"/>
          </a:solidFill>
          <a:ln w="12700">
            <a:solidFill>
              <a:srgbClr val="F2F7FC"/>
            </a:solidFill>
            <a:prstDash val="solid"/>
          </a:ln>
        </p:spPr>
      </p:sp>
      <p:sp>
        <p:nvSpPr>
          <p:cNvPr id="5" name="Shape 3"/>
          <p:cNvSpPr/>
          <p:nvPr/>
        </p:nvSpPr>
        <p:spPr>
          <a:xfrm>
            <a:off x="822960" y="1691640"/>
            <a:ext cx="640080" cy="640080"/>
          </a:xfrm>
          <a:prstGeom prst="ellipse">
            <a:avLst/>
          </a:prstGeom>
          <a:solidFill>
            <a:srgbClr val="E4EFF8"/>
          </a:solidFill>
          <a:ln w="12700">
            <a:solidFill>
              <a:srgbClr val="E4EFF8"/>
            </a:solidFill>
            <a:prstDash val="solid"/>
          </a:ln>
        </p:spPr>
      </p:sp>
      <p:pic>
        <p:nvPicPr>
          <p:cNvPr id="6" name="Image 0" descr="preencoded.png">    </p:cNvPr>
          <p:cNvPicPr>
            <a:picLocks noChangeAspect="1"/>
          </p:cNvPicPr>
          <p:nvPr/>
        </p:nvPicPr>
        <p:blipFill>
          <a:blip r:embed="rId1"/>
          <a:stretch>
            <a:fillRect/>
          </a:stretch>
        </p:blipFill>
        <p:spPr>
          <a:xfrm>
            <a:off x="963778" y="1832458"/>
            <a:ext cx="358445" cy="358445"/>
          </a:xfrm>
          <a:prstGeom prst="rect">
            <a:avLst/>
          </a:prstGeom>
        </p:spPr>
      </p:pic>
      <p:sp>
        <p:nvSpPr>
          <p:cNvPr id="7" name="Text 4"/>
          <p:cNvSpPr txBox="1"/>
          <p:nvPr/>
        </p:nvSpPr>
        <p:spPr>
          <a:xfrm>
            <a:off x="822960" y="2468880"/>
            <a:ext cx="3017520" cy="640080"/>
          </a:xfrm>
          <a:prstGeom prst="rect">
            <a:avLst/>
          </a:prstGeom>
          <a:noFill/>
          <a:ln/>
        </p:spPr>
        <p:txBody>
          <a:bodyPr wrap="square" lIns="0" tIns="0" rIns="0" bIns="0" rtlCol="0" anchor="t"/>
          <a:lstStyle/>
          <a:p>
            <a:pPr indent="0" marL="0">
              <a:buNone/>
            </a:pPr>
            <a:r>
              <a:rPr lang="en-US" sz="1700" b="1" dirty="0">
                <a:solidFill>
                  <a:srgbClr val="102D4B"/>
                </a:solidFill>
              </a:rPr>
              <a:t>L'auto-examen n'est pas fait</a:t>
            </a:r>
            <a:endParaRPr lang="en-US" sz="1700" dirty="0"/>
          </a:p>
        </p:txBody>
      </p:sp>
      <p:sp>
        <p:nvSpPr>
          <p:cNvPr id="8" name="Text 5"/>
          <p:cNvSpPr txBox="1"/>
          <p:nvPr/>
        </p:nvSpPr>
        <p:spPr>
          <a:xfrm>
            <a:off x="822960" y="3108960"/>
            <a:ext cx="3017520" cy="914400"/>
          </a:xfrm>
          <a:prstGeom prst="rect">
            <a:avLst/>
          </a:prstGeom>
          <a:noFill/>
          <a:ln/>
        </p:spPr>
        <p:txBody>
          <a:bodyPr wrap="square" lIns="0" tIns="0" rIns="0" bIns="0" rtlCol="0" anchor="ctr"/>
          <a:lstStyle/>
          <a:p>
            <a:pPr indent="0" marL="0">
              <a:buNone/>
            </a:pPr>
            <a:r>
              <a:rPr lang="en-US" sz="4800" b="1" dirty="0">
                <a:solidFill>
                  <a:srgbClr val="B42318"/>
                </a:solidFill>
              </a:rPr>
              <a:t>22 %</a:t>
            </a:r>
            <a:endParaRPr lang="en-US" sz="4800" dirty="0"/>
          </a:p>
        </p:txBody>
      </p:sp>
      <p:sp>
        <p:nvSpPr>
          <p:cNvPr id="9" name="Text 6"/>
          <p:cNvSpPr txBox="1"/>
          <p:nvPr/>
        </p:nvSpPr>
        <p:spPr>
          <a:xfrm>
            <a:off x="822960" y="4114800"/>
            <a:ext cx="3017520" cy="1737360"/>
          </a:xfrm>
          <a:prstGeom prst="rect">
            <a:avLst/>
          </a:prstGeom>
          <a:noFill/>
          <a:ln/>
        </p:spPr>
        <p:txBody>
          <a:bodyPr wrap="square" lIns="0" tIns="0" rIns="0" bIns="0" rtlCol="0" anchor="t"/>
          <a:lstStyle/>
          <a:p>
            <a:pPr indent="0" marL="0">
              <a:buNone/>
            </a:pPr>
            <a:r>
              <a:rPr lang="en-US" sz="1400" dirty="0">
                <a:solidFill>
                  <a:srgbClr val="4A5B6E"/>
                </a:solidFill>
              </a:rPr>
              <a:t>des diabétiques hospitalisés à Tunis inspectent leurs pieds chaque jour ; 77 % ont un faible niveau de connaissance.</a:t>
            </a:r>
            <a:endParaRPr lang="en-US" sz="1400" dirty="0"/>
          </a:p>
        </p:txBody>
      </p:sp>
      <p:sp>
        <p:nvSpPr>
          <p:cNvPr id="10" name="Shape 7"/>
          <p:cNvSpPr/>
          <p:nvPr/>
        </p:nvSpPr>
        <p:spPr>
          <a:xfrm>
            <a:off x="4297680" y="1463040"/>
            <a:ext cx="3520440" cy="4526280"/>
          </a:xfrm>
          <a:prstGeom prst="roundRect">
            <a:avLst>
              <a:gd name="adj" fmla="val 3117"/>
            </a:avLst>
          </a:prstGeom>
          <a:solidFill>
            <a:srgbClr val="F2F7FC"/>
          </a:solidFill>
          <a:ln w="12700">
            <a:solidFill>
              <a:srgbClr val="F2F7FC"/>
            </a:solidFill>
            <a:prstDash val="solid"/>
          </a:ln>
        </p:spPr>
      </p:sp>
      <p:sp>
        <p:nvSpPr>
          <p:cNvPr id="11" name="Shape 8"/>
          <p:cNvSpPr/>
          <p:nvPr/>
        </p:nvSpPr>
        <p:spPr>
          <a:xfrm>
            <a:off x="4572000" y="1691640"/>
            <a:ext cx="640080" cy="640080"/>
          </a:xfrm>
          <a:prstGeom prst="ellipse">
            <a:avLst/>
          </a:prstGeom>
          <a:solidFill>
            <a:srgbClr val="E4EFF8"/>
          </a:solidFill>
          <a:ln w="12700">
            <a:solidFill>
              <a:srgbClr val="E4EFF8"/>
            </a:solidFill>
            <a:prstDash val="solid"/>
          </a:ln>
        </p:spPr>
      </p:sp>
      <p:pic>
        <p:nvPicPr>
          <p:cNvPr id="12" name="Image 1" descr="preencoded.png">    </p:cNvPr>
          <p:cNvPicPr>
            <a:picLocks noChangeAspect="1"/>
          </p:cNvPicPr>
          <p:nvPr/>
        </p:nvPicPr>
        <p:blipFill>
          <a:blip r:embed="rId2"/>
          <a:stretch>
            <a:fillRect/>
          </a:stretch>
        </p:blipFill>
        <p:spPr>
          <a:xfrm>
            <a:off x="4712818" y="1832458"/>
            <a:ext cx="358445" cy="358445"/>
          </a:xfrm>
          <a:prstGeom prst="rect">
            <a:avLst/>
          </a:prstGeom>
        </p:spPr>
      </p:pic>
      <p:sp>
        <p:nvSpPr>
          <p:cNvPr id="13" name="Text 9"/>
          <p:cNvSpPr txBox="1"/>
          <p:nvPr/>
        </p:nvSpPr>
        <p:spPr>
          <a:xfrm>
            <a:off x="4572000" y="2468880"/>
            <a:ext cx="3017520" cy="640080"/>
          </a:xfrm>
          <a:prstGeom prst="rect">
            <a:avLst/>
          </a:prstGeom>
          <a:noFill/>
          <a:ln/>
        </p:spPr>
        <p:txBody>
          <a:bodyPr wrap="square" lIns="0" tIns="0" rIns="0" bIns="0" rtlCol="0" anchor="t"/>
          <a:lstStyle/>
          <a:p>
            <a:pPr indent="0" marL="0">
              <a:buNone/>
            </a:pPr>
            <a:r>
              <a:rPr lang="en-US" sz="1700" b="1" dirty="0">
                <a:solidFill>
                  <a:srgbClr val="102D4B"/>
                </a:solidFill>
              </a:rPr>
              <a:t>Le signal existe</a:t>
            </a:r>
            <a:endParaRPr lang="en-US" sz="1700" dirty="0"/>
          </a:p>
        </p:txBody>
      </p:sp>
      <p:sp>
        <p:nvSpPr>
          <p:cNvPr id="14" name="Text 10"/>
          <p:cNvSpPr txBox="1"/>
          <p:nvPr/>
        </p:nvSpPr>
        <p:spPr>
          <a:xfrm>
            <a:off x="4572000" y="3108960"/>
            <a:ext cx="3017520" cy="914400"/>
          </a:xfrm>
          <a:prstGeom prst="rect">
            <a:avLst/>
          </a:prstGeom>
          <a:noFill/>
          <a:ln/>
        </p:spPr>
        <p:txBody>
          <a:bodyPr wrap="square" lIns="0" tIns="0" rIns="0" bIns="0" rtlCol="0" anchor="ctr"/>
          <a:lstStyle/>
          <a:p>
            <a:pPr indent="0" marL="0">
              <a:buNone/>
            </a:pPr>
            <a:r>
              <a:rPr lang="en-US" sz="4800" b="1" dirty="0">
                <a:solidFill>
                  <a:srgbClr val="1E7A4F"/>
                </a:solidFill>
              </a:rPr>
              <a:t>÷ 2</a:t>
            </a:r>
            <a:endParaRPr lang="en-US" sz="4800" dirty="0"/>
          </a:p>
        </p:txBody>
      </p:sp>
      <p:sp>
        <p:nvSpPr>
          <p:cNvPr id="15" name="Text 11"/>
          <p:cNvSpPr txBox="1"/>
          <p:nvPr/>
        </p:nvSpPr>
        <p:spPr>
          <a:xfrm>
            <a:off x="4572000" y="4114800"/>
            <a:ext cx="3017520" cy="1737360"/>
          </a:xfrm>
          <a:prstGeom prst="rect">
            <a:avLst/>
          </a:prstGeom>
          <a:noFill/>
          <a:ln/>
        </p:spPr>
        <p:txBody>
          <a:bodyPr wrap="square" lIns="0" tIns="0" rIns="0" bIns="0" rtlCol="0" anchor="t"/>
          <a:lstStyle/>
          <a:p>
            <a:pPr indent="0" marL="0">
              <a:buNone/>
            </a:pPr>
            <a:r>
              <a:rPr lang="en-US" sz="1400" dirty="0">
                <a:solidFill>
                  <a:srgbClr val="4A5B6E"/>
                </a:solidFill>
              </a:rPr>
              <a:t>Surveiller la température des pieds à domicile réduit le risque d'ulcère (RR 0,51 ; 5 essais, 772 patients ; certitude faible).</a:t>
            </a:r>
            <a:endParaRPr lang="en-US" sz="1400" dirty="0"/>
          </a:p>
        </p:txBody>
      </p:sp>
      <p:sp>
        <p:nvSpPr>
          <p:cNvPr id="16" name="Shape 12"/>
          <p:cNvSpPr/>
          <p:nvPr/>
        </p:nvSpPr>
        <p:spPr>
          <a:xfrm>
            <a:off x="8046720" y="1463040"/>
            <a:ext cx="3520440" cy="4526280"/>
          </a:xfrm>
          <a:prstGeom prst="roundRect">
            <a:avLst>
              <a:gd name="adj" fmla="val 3117"/>
            </a:avLst>
          </a:prstGeom>
          <a:solidFill>
            <a:srgbClr val="F2F7FC"/>
          </a:solidFill>
          <a:ln w="12700">
            <a:solidFill>
              <a:srgbClr val="F2F7FC"/>
            </a:solidFill>
            <a:prstDash val="solid"/>
          </a:ln>
        </p:spPr>
      </p:sp>
      <p:sp>
        <p:nvSpPr>
          <p:cNvPr id="17" name="Shape 13"/>
          <p:cNvSpPr/>
          <p:nvPr/>
        </p:nvSpPr>
        <p:spPr>
          <a:xfrm>
            <a:off x="8321040" y="1691640"/>
            <a:ext cx="640080" cy="640080"/>
          </a:xfrm>
          <a:prstGeom prst="ellipse">
            <a:avLst/>
          </a:prstGeom>
          <a:solidFill>
            <a:srgbClr val="E4EFF8"/>
          </a:solidFill>
          <a:ln w="12700">
            <a:solidFill>
              <a:srgbClr val="E4EFF8"/>
            </a:solidFill>
            <a:prstDash val="solid"/>
          </a:ln>
        </p:spPr>
      </p:sp>
      <p:pic>
        <p:nvPicPr>
          <p:cNvPr id="18" name="Image 2" descr="preencoded.png">    </p:cNvPr>
          <p:cNvPicPr>
            <a:picLocks noChangeAspect="1"/>
          </p:cNvPicPr>
          <p:nvPr/>
        </p:nvPicPr>
        <p:blipFill>
          <a:blip r:embed="rId3"/>
          <a:stretch>
            <a:fillRect/>
          </a:stretch>
        </p:blipFill>
        <p:spPr>
          <a:xfrm>
            <a:off x="8461858" y="1832458"/>
            <a:ext cx="358445" cy="358445"/>
          </a:xfrm>
          <a:prstGeom prst="rect">
            <a:avLst/>
          </a:prstGeom>
        </p:spPr>
      </p:pic>
      <p:sp>
        <p:nvSpPr>
          <p:cNvPr id="19" name="Text 14"/>
          <p:cNvSpPr txBox="1"/>
          <p:nvPr/>
        </p:nvSpPr>
        <p:spPr>
          <a:xfrm>
            <a:off x="8321040" y="2468880"/>
            <a:ext cx="3017520" cy="640080"/>
          </a:xfrm>
          <a:prstGeom prst="rect">
            <a:avLst/>
          </a:prstGeom>
          <a:noFill/>
          <a:ln/>
        </p:spPr>
        <p:txBody>
          <a:bodyPr wrap="square" lIns="0" tIns="0" rIns="0" bIns="0" rtlCol="0" anchor="t"/>
          <a:lstStyle/>
          <a:p>
            <a:pPr indent="0" marL="0">
              <a:buNone/>
            </a:pPr>
            <a:r>
              <a:rPr lang="en-US" sz="1700" b="1" dirty="0">
                <a:solidFill>
                  <a:srgbClr val="102D4B"/>
                </a:solidFill>
              </a:rPr>
              <a:t>Les outils actuels sont mal adaptés</a:t>
            </a:r>
            <a:endParaRPr lang="en-US" sz="1700" dirty="0"/>
          </a:p>
        </p:txBody>
      </p:sp>
      <p:sp>
        <p:nvSpPr>
          <p:cNvPr id="20" name="Text 15"/>
          <p:cNvSpPr txBox="1"/>
          <p:nvPr/>
        </p:nvSpPr>
        <p:spPr>
          <a:xfrm>
            <a:off x="8321040" y="3108960"/>
            <a:ext cx="3017520" cy="914400"/>
          </a:xfrm>
          <a:prstGeom prst="rect">
            <a:avLst/>
          </a:prstGeom>
          <a:noFill/>
          <a:ln/>
        </p:spPr>
        <p:txBody>
          <a:bodyPr wrap="square" lIns="0" tIns="0" rIns="0" bIns="0" rtlCol="0" anchor="ctr"/>
          <a:lstStyle/>
          <a:p>
            <a:pPr indent="0" marL="0">
              <a:buNone/>
            </a:pPr>
            <a:r>
              <a:rPr lang="en-US" sz="4800" b="1" dirty="0">
                <a:solidFill>
                  <a:srgbClr val="8A5300"/>
                </a:solidFill>
              </a:rPr>
              <a:t>57 %</a:t>
            </a:r>
            <a:endParaRPr lang="en-US" sz="4800" dirty="0"/>
          </a:p>
        </p:txBody>
      </p:sp>
      <p:sp>
        <p:nvSpPr>
          <p:cNvPr id="21" name="Text 16"/>
          <p:cNvSpPr txBox="1"/>
          <p:nvPr/>
        </p:nvSpPr>
        <p:spPr>
          <a:xfrm>
            <a:off x="8321040" y="4114800"/>
            <a:ext cx="3017520" cy="1737360"/>
          </a:xfrm>
          <a:prstGeom prst="rect">
            <a:avLst/>
          </a:prstGeom>
          <a:noFill/>
          <a:ln/>
        </p:spPr>
        <p:txBody>
          <a:bodyPr wrap="square" lIns="0" tIns="0" rIns="0" bIns="0" rtlCol="0" anchor="t"/>
          <a:lstStyle/>
          <a:p>
            <a:pPr indent="0" marL="0">
              <a:buNone/>
            </a:pPr>
            <a:r>
              <a:rPr lang="en-US" sz="1400" dirty="0">
                <a:solidFill>
                  <a:srgbClr val="4A5B6E"/>
                </a:solidFill>
              </a:rPr>
              <a:t>de faux positifs pour un tapis connecté importé au seuil 2,2 °C (sensibilité 97 %). Conçu pour un autre système de santé, en anglais, sans relais local.</a:t>
            </a:r>
            <a:endParaRPr lang="en-US" sz="1400" dirty="0"/>
          </a:p>
        </p:txBody>
      </p:sp>
      <p:sp>
        <p:nvSpPr>
          <p:cNvPr id="22" name="Text 17"/>
          <p:cNvSpPr txBox="1"/>
          <p:nvPr/>
        </p:nvSpPr>
        <p:spPr>
          <a:xfrm>
            <a:off x="1188720" y="6355080"/>
            <a:ext cx="9265615" cy="320040"/>
          </a:xfrm>
          <a:prstGeom prst="rect">
            <a:avLst/>
          </a:prstGeom>
          <a:noFill/>
          <a:ln/>
        </p:spPr>
        <p:txBody>
          <a:bodyPr wrap="square" lIns="0" tIns="0" rIns="0" bIns="0" rtlCol="0" anchor="ctr"/>
          <a:lstStyle/>
          <a:p>
            <a:pPr indent="0" marL="0">
              <a:buNone/>
            </a:pPr>
            <a:r>
              <a:rPr lang="en-US" sz="1000" dirty="0">
                <a:solidFill>
                  <a:srgbClr val="5F6B78"/>
                </a:solidFill>
              </a:rPr>
              <a:t>Mizouri et al., La Tunisie Médicale 2021 · Golledge et al., Diabetes Metab Res Rev 2022 · Frykberg et al., Diabetes Care 2017 · IWGDF 2023</a:t>
            </a:r>
            <a:endParaRPr lang="en-US"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1F4C78"/>
                </a:solidFill>
              </a:rPr>
              <a:t>NOTRE SOLUTION</a:t>
            </a:r>
            <a:endParaRPr lang="en-US" sz="1100" dirty="0"/>
          </a:p>
        </p:txBody>
      </p:sp>
      <p:sp>
        <p:nvSpPr>
          <p:cNvPr id="3" name="Text 0"/>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rgbClr val="102D4B"/>
                </a:solidFill>
              </a:rPr>
              <a:t>10 secondes par jour, un soignant qui décide</a:t>
            </a:r>
            <a:endParaRPr lang="en-US" sz="3400" dirty="0"/>
          </a:p>
        </p:txBody>
      </p:sp>
      <p:sp>
        <p:nvSpPr>
          <p:cNvPr id="4" name="Shape 2"/>
          <p:cNvSpPr/>
          <p:nvPr/>
        </p:nvSpPr>
        <p:spPr>
          <a:xfrm>
            <a:off x="548640" y="1463040"/>
            <a:ext cx="1005840" cy="1005840"/>
          </a:xfrm>
          <a:prstGeom prst="ellipse">
            <a:avLst/>
          </a:prstGeom>
          <a:solidFill>
            <a:srgbClr val="E4EFF8"/>
          </a:solidFill>
          <a:ln w="12700">
            <a:solidFill>
              <a:srgbClr val="E4EFF8"/>
            </a:solidFill>
            <a:prstDash val="solid"/>
          </a:ln>
        </p:spPr>
      </p:sp>
      <p:pic>
        <p:nvPicPr>
          <p:cNvPr id="5" name="Image 0" descr="preencoded.png">    </p:cNvPr>
          <p:cNvPicPr>
            <a:picLocks noChangeAspect="1"/>
          </p:cNvPicPr>
          <p:nvPr/>
        </p:nvPicPr>
        <p:blipFill>
          <a:blip r:embed="rId1"/>
          <a:stretch>
            <a:fillRect/>
          </a:stretch>
        </p:blipFill>
        <p:spPr>
          <a:xfrm>
            <a:off x="769925" y="1684325"/>
            <a:ext cx="563270" cy="563270"/>
          </a:xfrm>
          <a:prstGeom prst="rect">
            <a:avLst/>
          </a:prstGeom>
        </p:spPr>
      </p:pic>
      <p:sp>
        <p:nvSpPr>
          <p:cNvPr id="6" name="Text 3"/>
          <p:cNvSpPr txBox="1"/>
          <p:nvPr/>
        </p:nvSpPr>
        <p:spPr>
          <a:xfrm>
            <a:off x="1828800" y="1481328"/>
            <a:ext cx="4754880" cy="411480"/>
          </a:xfrm>
          <a:prstGeom prst="rect">
            <a:avLst/>
          </a:prstGeom>
          <a:noFill/>
          <a:ln/>
        </p:spPr>
        <p:txBody>
          <a:bodyPr wrap="square" lIns="0" tIns="0" rIns="0" bIns="0" rtlCol="0" anchor="ctr"/>
          <a:lstStyle/>
          <a:p>
            <a:pPr indent="0" marL="0">
              <a:buNone/>
            </a:pPr>
            <a:r>
              <a:rPr lang="en-US" sz="2000" b="1" dirty="0">
                <a:solidFill>
                  <a:srgbClr val="102D4B"/>
                </a:solidFill>
              </a:rPr>
              <a:t>Le tapis</a:t>
            </a:r>
            <a:endParaRPr lang="en-US" sz="2000" dirty="0"/>
          </a:p>
        </p:txBody>
      </p:sp>
      <p:sp>
        <p:nvSpPr>
          <p:cNvPr id="7" name="Text 4"/>
          <p:cNvSpPr txBox="1"/>
          <p:nvPr/>
        </p:nvSpPr>
        <p:spPr>
          <a:xfrm>
            <a:off x="1828800" y="1901952"/>
            <a:ext cx="4754880" cy="868680"/>
          </a:xfrm>
          <a:prstGeom prst="rect">
            <a:avLst/>
          </a:prstGeom>
          <a:noFill/>
          <a:ln/>
        </p:spPr>
        <p:txBody>
          <a:bodyPr wrap="square" lIns="0" tIns="0" rIns="0" bIns="0" rtlCol="0" anchor="t"/>
          <a:lstStyle/>
          <a:p>
            <a:pPr indent="0" marL="0">
              <a:buNone/>
            </a:pPr>
            <a:r>
              <a:rPr lang="en-US" sz="1500" dirty="0">
                <a:solidFill>
                  <a:srgbClr val="4A5B6E"/>
                </a:solidFill>
              </a:rPr>
              <a:t>Deux pieds, même point, gauche contre droite. Trames vérifiées (CRC), aucune décision dans le boîtier.</a:t>
            </a:r>
            <a:endParaRPr lang="en-US" sz="1500" dirty="0"/>
          </a:p>
        </p:txBody>
      </p:sp>
      <p:sp>
        <p:nvSpPr>
          <p:cNvPr id="8" name="Shape 5"/>
          <p:cNvSpPr/>
          <p:nvPr/>
        </p:nvSpPr>
        <p:spPr>
          <a:xfrm>
            <a:off x="548640" y="2971800"/>
            <a:ext cx="1005840" cy="1005840"/>
          </a:xfrm>
          <a:prstGeom prst="ellipse">
            <a:avLst/>
          </a:prstGeom>
          <a:solidFill>
            <a:srgbClr val="E4EFF8"/>
          </a:solidFill>
          <a:ln w="12700">
            <a:solidFill>
              <a:srgbClr val="E4EFF8"/>
            </a:solidFill>
            <a:prstDash val="solid"/>
          </a:ln>
        </p:spPr>
      </p:sp>
      <p:pic>
        <p:nvPicPr>
          <p:cNvPr id="9" name="Image 1" descr="preencoded.png">    </p:cNvPr>
          <p:cNvPicPr>
            <a:picLocks noChangeAspect="1"/>
          </p:cNvPicPr>
          <p:nvPr/>
        </p:nvPicPr>
        <p:blipFill>
          <a:blip r:embed="rId2"/>
          <a:stretch>
            <a:fillRect/>
          </a:stretch>
        </p:blipFill>
        <p:spPr>
          <a:xfrm>
            <a:off x="769925" y="3193085"/>
            <a:ext cx="563270" cy="563270"/>
          </a:xfrm>
          <a:prstGeom prst="rect">
            <a:avLst/>
          </a:prstGeom>
        </p:spPr>
      </p:pic>
      <p:sp>
        <p:nvSpPr>
          <p:cNvPr id="10" name="Text 6"/>
          <p:cNvSpPr txBox="1"/>
          <p:nvPr/>
        </p:nvSpPr>
        <p:spPr>
          <a:xfrm>
            <a:off x="1828800" y="2990088"/>
            <a:ext cx="4754880" cy="411480"/>
          </a:xfrm>
          <a:prstGeom prst="rect">
            <a:avLst/>
          </a:prstGeom>
          <a:noFill/>
          <a:ln/>
        </p:spPr>
        <p:txBody>
          <a:bodyPr wrap="square" lIns="0" tIns="0" rIns="0" bIns="0" rtlCol="0" anchor="ctr"/>
          <a:lstStyle/>
          <a:p>
            <a:pPr indent="0" marL="0">
              <a:buNone/>
            </a:pPr>
            <a:r>
              <a:rPr lang="en-US" sz="2000" b="1" dirty="0">
                <a:solidFill>
                  <a:srgbClr val="102D4B"/>
                </a:solidFill>
              </a:rPr>
              <a:t>L'app patient</a:t>
            </a:r>
            <a:endParaRPr lang="en-US" sz="2000" dirty="0"/>
          </a:p>
        </p:txBody>
      </p:sp>
      <p:sp>
        <p:nvSpPr>
          <p:cNvPr id="11" name="Text 7"/>
          <p:cNvSpPr txBox="1"/>
          <p:nvPr/>
        </p:nvSpPr>
        <p:spPr>
          <a:xfrm>
            <a:off x="1828800" y="3410712"/>
            <a:ext cx="4754880" cy="868680"/>
          </a:xfrm>
          <a:prstGeom prst="rect">
            <a:avLst/>
          </a:prstGeom>
          <a:noFill/>
          <a:ln/>
        </p:spPr>
        <p:txBody>
          <a:bodyPr wrap="square" lIns="0" tIns="0" rIns="0" bIns="0" rtlCol="0" anchor="t"/>
          <a:lstStyle/>
          <a:p>
            <a:pPr indent="0" marL="0">
              <a:buNone/>
            </a:pPr>
            <a:r>
              <a:rPr lang="en-US" sz="1500" dirty="0">
                <a:solidFill>
                  <a:srgbClr val="4A5B6E"/>
                </a:solidFill>
              </a:rPr>
              <a:t>En derja, arabe ou français. Résultat expliqué, conduite à tenir fixe, journal glycémie et médicaments. Hors ligne, chiffrée.</a:t>
            </a:r>
            <a:endParaRPr lang="en-US" sz="1500" dirty="0"/>
          </a:p>
        </p:txBody>
      </p:sp>
      <p:sp>
        <p:nvSpPr>
          <p:cNvPr id="12" name="Shape 8"/>
          <p:cNvSpPr/>
          <p:nvPr/>
        </p:nvSpPr>
        <p:spPr>
          <a:xfrm>
            <a:off x="548640" y="4480560"/>
            <a:ext cx="1005840" cy="1005840"/>
          </a:xfrm>
          <a:prstGeom prst="ellipse">
            <a:avLst/>
          </a:prstGeom>
          <a:solidFill>
            <a:srgbClr val="102D4B"/>
          </a:solidFill>
          <a:ln w="12700">
            <a:solidFill>
              <a:srgbClr val="102D4B"/>
            </a:solidFill>
            <a:prstDash val="solid"/>
          </a:ln>
        </p:spPr>
      </p:sp>
      <p:pic>
        <p:nvPicPr>
          <p:cNvPr id="13" name="Image 2" descr="preencoded.png">    </p:cNvPr>
          <p:cNvPicPr>
            <a:picLocks noChangeAspect="1"/>
          </p:cNvPicPr>
          <p:nvPr/>
        </p:nvPicPr>
        <p:blipFill>
          <a:blip r:embed="rId3"/>
          <a:stretch>
            <a:fillRect/>
          </a:stretch>
        </p:blipFill>
        <p:spPr>
          <a:xfrm>
            <a:off x="769925" y="4701845"/>
            <a:ext cx="563270" cy="563270"/>
          </a:xfrm>
          <a:prstGeom prst="rect">
            <a:avLst/>
          </a:prstGeom>
        </p:spPr>
      </p:pic>
      <p:sp>
        <p:nvSpPr>
          <p:cNvPr id="14" name="Text 9"/>
          <p:cNvSpPr txBox="1"/>
          <p:nvPr/>
        </p:nvSpPr>
        <p:spPr>
          <a:xfrm>
            <a:off x="1828800" y="4498848"/>
            <a:ext cx="4754880" cy="411480"/>
          </a:xfrm>
          <a:prstGeom prst="rect">
            <a:avLst/>
          </a:prstGeom>
          <a:noFill/>
          <a:ln/>
        </p:spPr>
        <p:txBody>
          <a:bodyPr wrap="square" lIns="0" tIns="0" rIns="0" bIns="0" rtlCol="0" anchor="ctr"/>
          <a:lstStyle/>
          <a:p>
            <a:pPr indent="0" marL="0">
              <a:buNone/>
            </a:pPr>
            <a:r>
              <a:rPr lang="en-US" sz="2000" b="1" dirty="0">
                <a:solidFill>
                  <a:srgbClr val="102D4B"/>
                </a:solidFill>
              </a:rPr>
              <a:t>Le tableau de bord</a:t>
            </a:r>
            <a:endParaRPr lang="en-US" sz="2000" dirty="0"/>
          </a:p>
        </p:txBody>
      </p:sp>
      <p:sp>
        <p:nvSpPr>
          <p:cNvPr id="15" name="Text 10"/>
          <p:cNvSpPr txBox="1"/>
          <p:nvPr/>
        </p:nvSpPr>
        <p:spPr>
          <a:xfrm>
            <a:off x="1828800" y="4919472"/>
            <a:ext cx="4754880" cy="868680"/>
          </a:xfrm>
          <a:prstGeom prst="rect">
            <a:avLst/>
          </a:prstGeom>
          <a:noFill/>
          <a:ln/>
        </p:spPr>
        <p:txBody>
          <a:bodyPr wrap="square" lIns="0" tIns="0" rIns="0" bIns="0" rtlCol="0" anchor="t"/>
          <a:lstStyle/>
          <a:p>
            <a:pPr indent="0" marL="0">
              <a:buNone/>
            </a:pPr>
            <a:r>
              <a:rPr lang="en-US" sz="1500" dirty="0">
                <a:solidFill>
                  <a:srgbClr val="4A5B6E"/>
                </a:solidFill>
              </a:rPr>
              <a:t>File de triage, preuves de l'alerte, confirmation ou rejet en 3 étapes, synthèse validée, export FHIR.</a:t>
            </a:r>
            <a:endParaRPr lang="en-US" sz="1500" dirty="0"/>
          </a:p>
        </p:txBody>
      </p:sp>
      <p:pic>
        <p:nvPicPr>
          <p:cNvPr id="16" name="Image 3" descr="preencoded.png">    </p:cNvPr>
          <p:cNvPicPr>
            <a:picLocks noChangeAspect="1"/>
          </p:cNvPicPr>
          <p:nvPr/>
        </p:nvPicPr>
        <p:blipFill>
          <a:blip r:embed="rId4"/>
          <a:stretch>
            <a:fillRect/>
          </a:stretch>
        </p:blipFill>
        <p:spPr>
          <a:xfrm>
            <a:off x="6675120" y="1463040"/>
            <a:ext cx="4983480" cy="3397827"/>
          </a:xfrm>
          <a:prstGeom prst="rect">
            <a:avLst/>
          </a:prstGeom>
        </p:spPr>
      </p:pic>
      <p:sp>
        <p:nvSpPr>
          <p:cNvPr id="17" name="Text 11"/>
          <p:cNvSpPr txBox="1"/>
          <p:nvPr/>
        </p:nvSpPr>
        <p:spPr>
          <a:xfrm>
            <a:off x="6675120" y="4983480"/>
            <a:ext cx="4983480" cy="365760"/>
          </a:xfrm>
          <a:prstGeom prst="rect">
            <a:avLst/>
          </a:prstGeom>
          <a:noFill/>
          <a:ln/>
        </p:spPr>
        <p:txBody>
          <a:bodyPr wrap="square" lIns="0" tIns="0" rIns="0" bIns="0" rtlCol="0" anchor="ctr"/>
          <a:lstStyle/>
          <a:p>
            <a:pPr indent="0" marL="0">
              <a:buNone/>
            </a:pPr>
            <a:r>
              <a:rPr lang="en-US" sz="1100" i="1" dirty="0">
                <a:solidFill>
                  <a:srgbClr val="5F6B78"/>
                </a:solidFill>
              </a:rPr>
              <a:t>Tableau de bord soignant — capture réelle du prototype (données synthétiques)</a:t>
            </a:r>
            <a:endParaRPr lang="en-US" sz="11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1F4C78"/>
                </a:solidFill>
              </a:rPr>
              <a:t>PARCOURS PATIENT</a:t>
            </a:r>
            <a:endParaRPr lang="en-US" sz="1100" dirty="0"/>
          </a:p>
        </p:txBody>
      </p:sp>
      <p:sp>
        <p:nvSpPr>
          <p:cNvPr id="3" name="Text 0"/>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rgbClr val="102D4B"/>
                </a:solidFill>
              </a:rPr>
              <a:t>De la plaie découverte à l'alerte anticipée</a:t>
            </a:r>
            <a:endParaRPr lang="en-US" sz="3400" dirty="0"/>
          </a:p>
        </p:txBody>
      </p:sp>
      <p:sp>
        <p:nvSpPr>
          <p:cNvPr id="4" name="Text 2"/>
          <p:cNvSpPr txBox="1"/>
          <p:nvPr/>
        </p:nvSpPr>
        <p:spPr>
          <a:xfrm>
            <a:off x="548640" y="1463040"/>
            <a:ext cx="2743200" cy="320040"/>
          </a:xfrm>
          <a:prstGeom prst="rect">
            <a:avLst/>
          </a:prstGeom>
          <a:noFill/>
          <a:ln/>
        </p:spPr>
        <p:txBody>
          <a:bodyPr wrap="square" lIns="0" tIns="0" rIns="0" bIns="0" rtlCol="0" anchor="ctr"/>
          <a:lstStyle/>
          <a:p>
            <a:pPr indent="0" marL="0">
              <a:buNone/>
            </a:pPr>
            <a:r>
              <a:rPr lang="en-US" sz="1200" b="1" spc="200" kern="0" dirty="0">
                <a:solidFill>
                  <a:srgbClr val="B42318"/>
                </a:solidFill>
              </a:rPr>
              <a:t>AUJOURD'HUI</a:t>
            </a:r>
            <a:endParaRPr lang="en-US" sz="1200" dirty="0"/>
          </a:p>
        </p:txBody>
      </p:sp>
      <p:sp>
        <p:nvSpPr>
          <p:cNvPr id="5" name="Text 3"/>
          <p:cNvSpPr txBox="1"/>
          <p:nvPr/>
        </p:nvSpPr>
        <p:spPr>
          <a:xfrm>
            <a:off x="548640" y="3611880"/>
            <a:ext cx="2743200" cy="320040"/>
          </a:xfrm>
          <a:prstGeom prst="rect">
            <a:avLst/>
          </a:prstGeom>
          <a:noFill/>
          <a:ln/>
        </p:spPr>
        <p:txBody>
          <a:bodyPr wrap="square" lIns="0" tIns="0" rIns="0" bIns="0" rtlCol="0" anchor="ctr"/>
          <a:lstStyle/>
          <a:p>
            <a:pPr indent="0" marL="0">
              <a:buNone/>
            </a:pPr>
            <a:r>
              <a:rPr lang="en-US" sz="1200" b="1" spc="200" kern="0" dirty="0">
                <a:solidFill>
                  <a:srgbClr val="1E7A4F"/>
                </a:solidFill>
              </a:rPr>
              <a:t>AVEC QADAM</a:t>
            </a:r>
            <a:endParaRPr lang="en-US" sz="1200" dirty="0"/>
          </a:p>
        </p:txBody>
      </p:sp>
      <p:sp>
        <p:nvSpPr>
          <p:cNvPr id="6" name="Shape 4"/>
          <p:cNvSpPr/>
          <p:nvPr/>
        </p:nvSpPr>
        <p:spPr>
          <a:xfrm>
            <a:off x="548640" y="1828800"/>
            <a:ext cx="2606040" cy="1463040"/>
          </a:xfrm>
          <a:prstGeom prst="roundRect">
            <a:avLst>
              <a:gd name="adj" fmla="val 7500"/>
            </a:avLst>
          </a:prstGeom>
          <a:solidFill>
            <a:srgbClr val="FDE8E6"/>
          </a:solidFill>
          <a:ln w="12700">
            <a:solidFill>
              <a:srgbClr val="FDE8E6"/>
            </a:solidFill>
            <a:prstDash val="solid"/>
          </a:ln>
        </p:spPr>
      </p:sp>
      <p:sp>
        <p:nvSpPr>
          <p:cNvPr id="7" name="Text 5"/>
          <p:cNvSpPr txBox="1"/>
          <p:nvPr/>
        </p:nvSpPr>
        <p:spPr>
          <a:xfrm>
            <a:off x="731520" y="1965960"/>
            <a:ext cx="2240280" cy="320040"/>
          </a:xfrm>
          <a:prstGeom prst="rect">
            <a:avLst/>
          </a:prstGeom>
          <a:noFill/>
          <a:ln/>
        </p:spPr>
        <p:txBody>
          <a:bodyPr wrap="square" lIns="0" tIns="0" rIns="0" bIns="0" rtlCol="0" anchor="ctr"/>
          <a:lstStyle/>
          <a:p>
            <a:pPr indent="0" marL="0">
              <a:buNone/>
            </a:pPr>
            <a:r>
              <a:rPr lang="en-US" sz="1200" b="1" dirty="0">
                <a:solidFill>
                  <a:srgbClr val="B42318"/>
                </a:solidFill>
              </a:rPr>
              <a:t>Jour 0</a:t>
            </a:r>
            <a:endParaRPr lang="en-US" sz="1200" dirty="0"/>
          </a:p>
        </p:txBody>
      </p:sp>
      <p:sp>
        <p:nvSpPr>
          <p:cNvPr id="8" name="Text 6"/>
          <p:cNvSpPr txBox="1"/>
          <p:nvPr/>
        </p:nvSpPr>
        <p:spPr>
          <a:xfrm>
            <a:off x="731520" y="2286000"/>
            <a:ext cx="2240280" cy="914400"/>
          </a:xfrm>
          <a:prstGeom prst="rect">
            <a:avLst/>
          </a:prstGeom>
          <a:noFill/>
          <a:ln/>
        </p:spPr>
        <p:txBody>
          <a:bodyPr wrap="square" lIns="0" tIns="0" rIns="0" bIns="0" rtlCol="0" anchor="t"/>
          <a:lstStyle/>
          <a:p>
            <a:pPr indent="0" marL="0">
              <a:buNone/>
            </a:pPr>
            <a:r>
              <a:rPr lang="en-US" sz="1500" dirty="0">
                <a:solidFill>
                  <a:srgbClr val="102D4B"/>
                </a:solidFill>
              </a:rPr>
              <a:t>Inflammation silencieuse sous l'avant-pied</a:t>
            </a:r>
            <a:endParaRPr lang="en-US" sz="1500" dirty="0"/>
          </a:p>
        </p:txBody>
      </p:sp>
      <p:sp>
        <p:nvSpPr>
          <p:cNvPr id="9" name="Text 7"/>
          <p:cNvSpPr txBox="1"/>
          <p:nvPr/>
        </p:nvSpPr>
        <p:spPr>
          <a:xfrm>
            <a:off x="3136392" y="2286000"/>
            <a:ext cx="237744" cy="457200"/>
          </a:xfrm>
          <a:prstGeom prst="rect">
            <a:avLst/>
          </a:prstGeom>
          <a:noFill/>
          <a:ln/>
        </p:spPr>
        <p:txBody>
          <a:bodyPr wrap="square" lIns="0" tIns="0" rIns="0" bIns="0" rtlCol="0" anchor="ctr"/>
          <a:lstStyle/>
          <a:p>
            <a:pPr algn="ctr" indent="0" marL="0">
              <a:buNone/>
            </a:pPr>
            <a:r>
              <a:rPr lang="en-US" sz="2200" dirty="0">
                <a:solidFill>
                  <a:srgbClr val="5F6B78"/>
                </a:solidFill>
              </a:rPr>
              <a:t>›</a:t>
            </a:r>
            <a:endParaRPr lang="en-US" sz="2200" dirty="0"/>
          </a:p>
        </p:txBody>
      </p:sp>
      <p:sp>
        <p:nvSpPr>
          <p:cNvPr id="10" name="Shape 8"/>
          <p:cNvSpPr/>
          <p:nvPr/>
        </p:nvSpPr>
        <p:spPr>
          <a:xfrm>
            <a:off x="3355848" y="1828800"/>
            <a:ext cx="2606040" cy="1463040"/>
          </a:xfrm>
          <a:prstGeom prst="roundRect">
            <a:avLst>
              <a:gd name="adj" fmla="val 7500"/>
            </a:avLst>
          </a:prstGeom>
          <a:solidFill>
            <a:srgbClr val="FDE8E6"/>
          </a:solidFill>
          <a:ln w="12700">
            <a:solidFill>
              <a:srgbClr val="FDE8E6"/>
            </a:solidFill>
            <a:prstDash val="solid"/>
          </a:ln>
        </p:spPr>
      </p:sp>
      <p:sp>
        <p:nvSpPr>
          <p:cNvPr id="11" name="Text 9"/>
          <p:cNvSpPr txBox="1"/>
          <p:nvPr/>
        </p:nvSpPr>
        <p:spPr>
          <a:xfrm>
            <a:off x="3538728" y="1965960"/>
            <a:ext cx="2240280" cy="320040"/>
          </a:xfrm>
          <a:prstGeom prst="rect">
            <a:avLst/>
          </a:prstGeom>
          <a:noFill/>
          <a:ln/>
        </p:spPr>
        <p:txBody>
          <a:bodyPr wrap="square" lIns="0" tIns="0" rIns="0" bIns="0" rtlCol="0" anchor="ctr"/>
          <a:lstStyle/>
          <a:p>
            <a:pPr indent="0" marL="0">
              <a:buNone/>
            </a:pPr>
            <a:r>
              <a:rPr lang="en-US" sz="1200" b="1" dirty="0">
                <a:solidFill>
                  <a:srgbClr val="B42318"/>
                </a:solidFill>
              </a:rPr>
              <a:t>Semaines 1–3</a:t>
            </a:r>
            <a:endParaRPr lang="en-US" sz="1200" dirty="0"/>
          </a:p>
        </p:txBody>
      </p:sp>
      <p:sp>
        <p:nvSpPr>
          <p:cNvPr id="12" name="Text 10"/>
          <p:cNvSpPr txBox="1"/>
          <p:nvPr/>
        </p:nvSpPr>
        <p:spPr>
          <a:xfrm>
            <a:off x="3538728" y="2286000"/>
            <a:ext cx="2240280" cy="914400"/>
          </a:xfrm>
          <a:prstGeom prst="rect">
            <a:avLst/>
          </a:prstGeom>
          <a:noFill/>
          <a:ln/>
        </p:spPr>
        <p:txBody>
          <a:bodyPr wrap="square" lIns="0" tIns="0" rIns="0" bIns="0" rtlCol="0" anchor="t"/>
          <a:lstStyle/>
          <a:p>
            <a:pPr indent="0" marL="0">
              <a:buNone/>
            </a:pPr>
            <a:r>
              <a:rPr lang="en-US" sz="1500" dirty="0">
                <a:solidFill>
                  <a:srgbClr val="102D4B"/>
                </a:solidFill>
              </a:rPr>
              <a:t>Il marche, chauffe ses pieds, rien ne se voit</a:t>
            </a:r>
            <a:endParaRPr lang="en-US" sz="1500" dirty="0"/>
          </a:p>
        </p:txBody>
      </p:sp>
      <p:sp>
        <p:nvSpPr>
          <p:cNvPr id="13" name="Text 11"/>
          <p:cNvSpPr txBox="1"/>
          <p:nvPr/>
        </p:nvSpPr>
        <p:spPr>
          <a:xfrm>
            <a:off x="5943600" y="2286000"/>
            <a:ext cx="237744" cy="457200"/>
          </a:xfrm>
          <a:prstGeom prst="rect">
            <a:avLst/>
          </a:prstGeom>
          <a:noFill/>
          <a:ln/>
        </p:spPr>
        <p:txBody>
          <a:bodyPr wrap="square" lIns="0" tIns="0" rIns="0" bIns="0" rtlCol="0" anchor="ctr"/>
          <a:lstStyle/>
          <a:p>
            <a:pPr algn="ctr" indent="0" marL="0">
              <a:buNone/>
            </a:pPr>
            <a:r>
              <a:rPr lang="en-US" sz="2200" dirty="0">
                <a:solidFill>
                  <a:srgbClr val="5F6B78"/>
                </a:solidFill>
              </a:rPr>
              <a:t>›</a:t>
            </a:r>
            <a:endParaRPr lang="en-US" sz="2200" dirty="0"/>
          </a:p>
        </p:txBody>
      </p:sp>
      <p:sp>
        <p:nvSpPr>
          <p:cNvPr id="14" name="Shape 12"/>
          <p:cNvSpPr/>
          <p:nvPr/>
        </p:nvSpPr>
        <p:spPr>
          <a:xfrm>
            <a:off x="6163056" y="1828800"/>
            <a:ext cx="2606040" cy="1463040"/>
          </a:xfrm>
          <a:prstGeom prst="roundRect">
            <a:avLst>
              <a:gd name="adj" fmla="val 7500"/>
            </a:avLst>
          </a:prstGeom>
          <a:solidFill>
            <a:srgbClr val="FDE8E6"/>
          </a:solidFill>
          <a:ln w="12700">
            <a:solidFill>
              <a:srgbClr val="FDE8E6"/>
            </a:solidFill>
            <a:prstDash val="solid"/>
          </a:ln>
        </p:spPr>
      </p:sp>
      <p:sp>
        <p:nvSpPr>
          <p:cNvPr id="15" name="Text 13"/>
          <p:cNvSpPr txBox="1"/>
          <p:nvPr/>
        </p:nvSpPr>
        <p:spPr>
          <a:xfrm>
            <a:off x="6345936" y="1965960"/>
            <a:ext cx="2240280" cy="320040"/>
          </a:xfrm>
          <a:prstGeom prst="rect">
            <a:avLst/>
          </a:prstGeom>
          <a:noFill/>
          <a:ln/>
        </p:spPr>
        <p:txBody>
          <a:bodyPr wrap="square" lIns="0" tIns="0" rIns="0" bIns="0" rtlCol="0" anchor="ctr"/>
          <a:lstStyle/>
          <a:p>
            <a:pPr indent="0" marL="0">
              <a:buNone/>
            </a:pPr>
            <a:r>
              <a:rPr lang="en-US" sz="1200" b="1" dirty="0">
                <a:solidFill>
                  <a:srgbClr val="B42318"/>
                </a:solidFill>
              </a:rPr>
              <a:t>Plaie ouverte</a:t>
            </a:r>
            <a:endParaRPr lang="en-US" sz="1200" dirty="0"/>
          </a:p>
        </p:txBody>
      </p:sp>
      <p:sp>
        <p:nvSpPr>
          <p:cNvPr id="16" name="Text 14"/>
          <p:cNvSpPr txBox="1"/>
          <p:nvPr/>
        </p:nvSpPr>
        <p:spPr>
          <a:xfrm>
            <a:off x="6345936" y="2286000"/>
            <a:ext cx="2240280" cy="914400"/>
          </a:xfrm>
          <a:prstGeom prst="rect">
            <a:avLst/>
          </a:prstGeom>
          <a:noFill/>
          <a:ln/>
        </p:spPr>
        <p:txBody>
          <a:bodyPr wrap="square" lIns="0" tIns="0" rIns="0" bIns="0" rtlCol="0" anchor="t"/>
          <a:lstStyle/>
          <a:p>
            <a:pPr indent="0" marL="0">
              <a:buNone/>
            </a:pPr>
            <a:r>
              <a:rPr lang="en-US" sz="1500" dirty="0">
                <a:solidFill>
                  <a:srgbClr val="102D4B"/>
                </a:solidFill>
              </a:rPr>
              <a:t>Découverte tardive, infection possible</a:t>
            </a:r>
            <a:endParaRPr lang="en-US" sz="1500" dirty="0"/>
          </a:p>
        </p:txBody>
      </p:sp>
      <p:sp>
        <p:nvSpPr>
          <p:cNvPr id="17" name="Text 15"/>
          <p:cNvSpPr txBox="1"/>
          <p:nvPr/>
        </p:nvSpPr>
        <p:spPr>
          <a:xfrm>
            <a:off x="8750808" y="2286000"/>
            <a:ext cx="237744" cy="457200"/>
          </a:xfrm>
          <a:prstGeom prst="rect">
            <a:avLst/>
          </a:prstGeom>
          <a:noFill/>
          <a:ln/>
        </p:spPr>
        <p:txBody>
          <a:bodyPr wrap="square" lIns="0" tIns="0" rIns="0" bIns="0" rtlCol="0" anchor="ctr"/>
          <a:lstStyle/>
          <a:p>
            <a:pPr algn="ctr" indent="0" marL="0">
              <a:buNone/>
            </a:pPr>
            <a:r>
              <a:rPr lang="en-US" sz="2200" dirty="0">
                <a:solidFill>
                  <a:srgbClr val="5F6B78"/>
                </a:solidFill>
              </a:rPr>
              <a:t>›</a:t>
            </a:r>
            <a:endParaRPr lang="en-US" sz="2200" dirty="0"/>
          </a:p>
        </p:txBody>
      </p:sp>
      <p:sp>
        <p:nvSpPr>
          <p:cNvPr id="18" name="Shape 16"/>
          <p:cNvSpPr/>
          <p:nvPr/>
        </p:nvSpPr>
        <p:spPr>
          <a:xfrm>
            <a:off x="8970264" y="1828800"/>
            <a:ext cx="2606040" cy="1463040"/>
          </a:xfrm>
          <a:prstGeom prst="roundRect">
            <a:avLst>
              <a:gd name="adj" fmla="val 7500"/>
            </a:avLst>
          </a:prstGeom>
          <a:solidFill>
            <a:srgbClr val="FDE8E6"/>
          </a:solidFill>
          <a:ln w="12700">
            <a:solidFill>
              <a:srgbClr val="FDE8E6"/>
            </a:solidFill>
            <a:prstDash val="solid"/>
          </a:ln>
        </p:spPr>
      </p:sp>
      <p:sp>
        <p:nvSpPr>
          <p:cNvPr id="19" name="Text 17"/>
          <p:cNvSpPr txBox="1"/>
          <p:nvPr/>
        </p:nvSpPr>
        <p:spPr>
          <a:xfrm>
            <a:off x="9153144" y="1965960"/>
            <a:ext cx="2240280" cy="320040"/>
          </a:xfrm>
          <a:prstGeom prst="rect">
            <a:avLst/>
          </a:prstGeom>
          <a:noFill/>
          <a:ln/>
        </p:spPr>
        <p:txBody>
          <a:bodyPr wrap="square" lIns="0" tIns="0" rIns="0" bIns="0" rtlCol="0" anchor="ctr"/>
          <a:lstStyle/>
          <a:p>
            <a:pPr indent="0" marL="0">
              <a:buNone/>
            </a:pPr>
            <a:r>
              <a:rPr lang="en-US" sz="1200" b="1" dirty="0">
                <a:solidFill>
                  <a:srgbClr val="B42318"/>
                </a:solidFill>
              </a:rPr>
              <a:t>Urgences</a:t>
            </a:r>
            <a:endParaRPr lang="en-US" sz="1200" dirty="0"/>
          </a:p>
        </p:txBody>
      </p:sp>
      <p:sp>
        <p:nvSpPr>
          <p:cNvPr id="20" name="Text 18"/>
          <p:cNvSpPr txBox="1"/>
          <p:nvPr/>
        </p:nvSpPr>
        <p:spPr>
          <a:xfrm>
            <a:off x="9153144" y="2286000"/>
            <a:ext cx="2240280" cy="914400"/>
          </a:xfrm>
          <a:prstGeom prst="rect">
            <a:avLst/>
          </a:prstGeom>
          <a:noFill/>
          <a:ln/>
        </p:spPr>
        <p:txBody>
          <a:bodyPr wrap="square" lIns="0" tIns="0" rIns="0" bIns="0" rtlCol="0" anchor="t"/>
          <a:lstStyle/>
          <a:p>
            <a:pPr indent="0" marL="0">
              <a:buNone/>
            </a:pPr>
            <a:r>
              <a:rPr lang="en-US" sz="1500" dirty="0">
                <a:solidFill>
                  <a:srgbClr val="102D4B"/>
                </a:solidFill>
              </a:rPr>
              <a:t>Hospitalisation, risque d'amputation</a:t>
            </a:r>
            <a:endParaRPr lang="en-US" sz="1500" dirty="0"/>
          </a:p>
        </p:txBody>
      </p:sp>
      <p:sp>
        <p:nvSpPr>
          <p:cNvPr id="21" name="Shape 19"/>
          <p:cNvSpPr/>
          <p:nvPr/>
        </p:nvSpPr>
        <p:spPr>
          <a:xfrm>
            <a:off x="548640" y="3977640"/>
            <a:ext cx="2606040" cy="1463040"/>
          </a:xfrm>
          <a:prstGeom prst="roundRect">
            <a:avLst>
              <a:gd name="adj" fmla="val 7500"/>
            </a:avLst>
          </a:prstGeom>
          <a:solidFill>
            <a:srgbClr val="E4F3EA"/>
          </a:solidFill>
          <a:ln w="12700">
            <a:solidFill>
              <a:srgbClr val="E4F3EA"/>
            </a:solidFill>
            <a:prstDash val="solid"/>
          </a:ln>
        </p:spPr>
      </p:sp>
      <p:sp>
        <p:nvSpPr>
          <p:cNvPr id="22" name="Text 20"/>
          <p:cNvSpPr txBox="1"/>
          <p:nvPr/>
        </p:nvSpPr>
        <p:spPr>
          <a:xfrm>
            <a:off x="731520" y="4114800"/>
            <a:ext cx="2240280" cy="320040"/>
          </a:xfrm>
          <a:prstGeom prst="rect">
            <a:avLst/>
          </a:prstGeom>
          <a:noFill/>
          <a:ln/>
        </p:spPr>
        <p:txBody>
          <a:bodyPr wrap="square" lIns="0" tIns="0" rIns="0" bIns="0" rtlCol="0" anchor="ctr"/>
          <a:lstStyle/>
          <a:p>
            <a:pPr indent="0" marL="0">
              <a:buNone/>
            </a:pPr>
            <a:r>
              <a:rPr lang="en-US" sz="1200" b="1" dirty="0">
                <a:solidFill>
                  <a:srgbClr val="1E7A4F"/>
                </a:solidFill>
              </a:rPr>
              <a:t>Jour 1 · orange</a:t>
            </a:r>
            <a:endParaRPr lang="en-US" sz="1200" dirty="0"/>
          </a:p>
        </p:txBody>
      </p:sp>
      <p:sp>
        <p:nvSpPr>
          <p:cNvPr id="23" name="Text 21"/>
          <p:cNvSpPr txBox="1"/>
          <p:nvPr/>
        </p:nvSpPr>
        <p:spPr>
          <a:xfrm>
            <a:off x="731520" y="4434840"/>
            <a:ext cx="2240280" cy="914400"/>
          </a:xfrm>
          <a:prstGeom prst="rect">
            <a:avLst/>
          </a:prstGeom>
          <a:noFill/>
          <a:ln/>
        </p:spPr>
        <p:txBody>
          <a:bodyPr wrap="square" lIns="0" tIns="0" rIns="0" bIns="0" rtlCol="0" anchor="t"/>
          <a:lstStyle/>
          <a:p>
            <a:pPr indent="0" marL="0">
              <a:buNone/>
            </a:pPr>
            <a:r>
              <a:rPr lang="en-US" sz="1500" dirty="0">
                <a:solidFill>
                  <a:srgbClr val="102D4B"/>
                </a:solidFill>
              </a:rPr>
              <a:t>Point plus chaud : repos du pied, contrôle des chaussures</a:t>
            </a:r>
            <a:endParaRPr lang="en-US" sz="1500" dirty="0"/>
          </a:p>
        </p:txBody>
      </p:sp>
      <p:sp>
        <p:nvSpPr>
          <p:cNvPr id="24" name="Text 22"/>
          <p:cNvSpPr txBox="1"/>
          <p:nvPr/>
        </p:nvSpPr>
        <p:spPr>
          <a:xfrm>
            <a:off x="3136392" y="4434840"/>
            <a:ext cx="237744" cy="457200"/>
          </a:xfrm>
          <a:prstGeom prst="rect">
            <a:avLst/>
          </a:prstGeom>
          <a:noFill/>
          <a:ln/>
        </p:spPr>
        <p:txBody>
          <a:bodyPr wrap="square" lIns="0" tIns="0" rIns="0" bIns="0" rtlCol="0" anchor="ctr"/>
          <a:lstStyle/>
          <a:p>
            <a:pPr algn="ctr" indent="0" marL="0">
              <a:buNone/>
            </a:pPr>
            <a:r>
              <a:rPr lang="en-US" sz="2200" dirty="0">
                <a:solidFill>
                  <a:srgbClr val="5F6B78"/>
                </a:solidFill>
              </a:rPr>
              <a:t>›</a:t>
            </a:r>
            <a:endParaRPr lang="en-US" sz="2200" dirty="0"/>
          </a:p>
        </p:txBody>
      </p:sp>
      <p:sp>
        <p:nvSpPr>
          <p:cNvPr id="25" name="Shape 23"/>
          <p:cNvSpPr/>
          <p:nvPr/>
        </p:nvSpPr>
        <p:spPr>
          <a:xfrm>
            <a:off x="3355848" y="3977640"/>
            <a:ext cx="2606040" cy="1463040"/>
          </a:xfrm>
          <a:prstGeom prst="roundRect">
            <a:avLst>
              <a:gd name="adj" fmla="val 7500"/>
            </a:avLst>
          </a:prstGeom>
          <a:solidFill>
            <a:srgbClr val="E4F3EA"/>
          </a:solidFill>
          <a:ln w="12700">
            <a:solidFill>
              <a:srgbClr val="E4F3EA"/>
            </a:solidFill>
            <a:prstDash val="solid"/>
          </a:ln>
        </p:spPr>
      </p:sp>
      <p:sp>
        <p:nvSpPr>
          <p:cNvPr id="26" name="Text 24"/>
          <p:cNvSpPr txBox="1"/>
          <p:nvPr/>
        </p:nvSpPr>
        <p:spPr>
          <a:xfrm>
            <a:off x="3538728" y="4114800"/>
            <a:ext cx="2240280" cy="320040"/>
          </a:xfrm>
          <a:prstGeom prst="rect">
            <a:avLst/>
          </a:prstGeom>
          <a:noFill/>
          <a:ln/>
        </p:spPr>
        <p:txBody>
          <a:bodyPr wrap="square" lIns="0" tIns="0" rIns="0" bIns="0" rtlCol="0" anchor="ctr"/>
          <a:lstStyle/>
          <a:p>
            <a:pPr indent="0" marL="0">
              <a:buNone/>
            </a:pPr>
            <a:r>
              <a:rPr lang="en-US" sz="1200" b="1" dirty="0">
                <a:solidFill>
                  <a:srgbClr val="1E7A4F"/>
                </a:solidFill>
              </a:rPr>
              <a:t>Jour 2 · rouge</a:t>
            </a:r>
            <a:endParaRPr lang="en-US" sz="1200" dirty="0"/>
          </a:p>
        </p:txBody>
      </p:sp>
      <p:sp>
        <p:nvSpPr>
          <p:cNvPr id="27" name="Text 25"/>
          <p:cNvSpPr txBox="1"/>
          <p:nvPr/>
        </p:nvSpPr>
        <p:spPr>
          <a:xfrm>
            <a:off x="3538728" y="4434840"/>
            <a:ext cx="2240280" cy="914400"/>
          </a:xfrm>
          <a:prstGeom prst="rect">
            <a:avLst/>
          </a:prstGeom>
          <a:noFill/>
          <a:ln/>
        </p:spPr>
        <p:txBody>
          <a:bodyPr wrap="square" lIns="0" tIns="0" rIns="0" bIns="0" rtlCol="0" anchor="t"/>
          <a:lstStyle/>
          <a:p>
            <a:pPr indent="0" marL="0">
              <a:buNone/>
            </a:pPr>
            <a:r>
              <a:rPr lang="en-US" sz="1500" dirty="0">
                <a:solidFill>
                  <a:srgbClr val="102D4B"/>
                </a:solidFill>
              </a:rPr>
              <a:t>Même point : appel au médecin, proche prévenu par WhatsApp</a:t>
            </a:r>
            <a:endParaRPr lang="en-US" sz="1500" dirty="0"/>
          </a:p>
        </p:txBody>
      </p:sp>
      <p:sp>
        <p:nvSpPr>
          <p:cNvPr id="28" name="Text 26"/>
          <p:cNvSpPr txBox="1"/>
          <p:nvPr/>
        </p:nvSpPr>
        <p:spPr>
          <a:xfrm>
            <a:off x="5943600" y="4434840"/>
            <a:ext cx="237744" cy="457200"/>
          </a:xfrm>
          <a:prstGeom prst="rect">
            <a:avLst/>
          </a:prstGeom>
          <a:noFill/>
          <a:ln/>
        </p:spPr>
        <p:txBody>
          <a:bodyPr wrap="square" lIns="0" tIns="0" rIns="0" bIns="0" rtlCol="0" anchor="ctr"/>
          <a:lstStyle/>
          <a:p>
            <a:pPr algn="ctr" indent="0" marL="0">
              <a:buNone/>
            </a:pPr>
            <a:r>
              <a:rPr lang="en-US" sz="2200" dirty="0">
                <a:solidFill>
                  <a:srgbClr val="5F6B78"/>
                </a:solidFill>
              </a:rPr>
              <a:t>›</a:t>
            </a:r>
            <a:endParaRPr lang="en-US" sz="2200" dirty="0"/>
          </a:p>
        </p:txBody>
      </p:sp>
      <p:sp>
        <p:nvSpPr>
          <p:cNvPr id="29" name="Shape 27"/>
          <p:cNvSpPr/>
          <p:nvPr/>
        </p:nvSpPr>
        <p:spPr>
          <a:xfrm>
            <a:off x="6163056" y="3977640"/>
            <a:ext cx="2606040" cy="1463040"/>
          </a:xfrm>
          <a:prstGeom prst="roundRect">
            <a:avLst>
              <a:gd name="adj" fmla="val 7500"/>
            </a:avLst>
          </a:prstGeom>
          <a:solidFill>
            <a:srgbClr val="E4F3EA"/>
          </a:solidFill>
          <a:ln w="12700">
            <a:solidFill>
              <a:srgbClr val="E4F3EA"/>
            </a:solidFill>
            <a:prstDash val="solid"/>
          </a:ln>
        </p:spPr>
      </p:sp>
      <p:sp>
        <p:nvSpPr>
          <p:cNvPr id="30" name="Text 28"/>
          <p:cNvSpPr txBox="1"/>
          <p:nvPr/>
        </p:nvSpPr>
        <p:spPr>
          <a:xfrm>
            <a:off x="6345936" y="4114800"/>
            <a:ext cx="2240280" cy="320040"/>
          </a:xfrm>
          <a:prstGeom prst="rect">
            <a:avLst/>
          </a:prstGeom>
          <a:noFill/>
          <a:ln/>
        </p:spPr>
        <p:txBody>
          <a:bodyPr wrap="square" lIns="0" tIns="0" rIns="0" bIns="0" rtlCol="0" anchor="ctr"/>
          <a:lstStyle/>
          <a:p>
            <a:pPr indent="0" marL="0">
              <a:buNone/>
            </a:pPr>
            <a:r>
              <a:rPr lang="en-US" sz="1200" b="1" dirty="0">
                <a:solidFill>
                  <a:srgbClr val="1E7A4F"/>
                </a:solidFill>
              </a:rPr>
              <a:t>Le soignant</a:t>
            </a:r>
            <a:endParaRPr lang="en-US" sz="1200" dirty="0"/>
          </a:p>
        </p:txBody>
      </p:sp>
      <p:sp>
        <p:nvSpPr>
          <p:cNvPr id="31" name="Text 29"/>
          <p:cNvSpPr txBox="1"/>
          <p:nvPr/>
        </p:nvSpPr>
        <p:spPr>
          <a:xfrm>
            <a:off x="6345936" y="4434840"/>
            <a:ext cx="2240280" cy="914400"/>
          </a:xfrm>
          <a:prstGeom prst="rect">
            <a:avLst/>
          </a:prstGeom>
          <a:noFill/>
          <a:ln/>
        </p:spPr>
        <p:txBody>
          <a:bodyPr wrap="square" lIns="0" tIns="0" rIns="0" bIns="0" rtlCol="0" anchor="t"/>
          <a:lstStyle/>
          <a:p>
            <a:pPr indent="0" marL="0">
              <a:buNone/>
            </a:pPr>
            <a:r>
              <a:rPr lang="en-US" sz="1500" dirty="0">
                <a:solidFill>
                  <a:srgbClr val="102D4B"/>
                </a:solidFill>
              </a:rPr>
              <a:t>Voit l'alerte en tête de file, confirme en 3 étapes</a:t>
            </a:r>
            <a:endParaRPr lang="en-US" sz="1500" dirty="0"/>
          </a:p>
        </p:txBody>
      </p:sp>
      <p:sp>
        <p:nvSpPr>
          <p:cNvPr id="32" name="Text 30"/>
          <p:cNvSpPr txBox="1"/>
          <p:nvPr/>
        </p:nvSpPr>
        <p:spPr>
          <a:xfrm>
            <a:off x="8750808" y="4434840"/>
            <a:ext cx="237744" cy="457200"/>
          </a:xfrm>
          <a:prstGeom prst="rect">
            <a:avLst/>
          </a:prstGeom>
          <a:noFill/>
          <a:ln/>
        </p:spPr>
        <p:txBody>
          <a:bodyPr wrap="square" lIns="0" tIns="0" rIns="0" bIns="0" rtlCol="0" anchor="ctr"/>
          <a:lstStyle/>
          <a:p>
            <a:pPr algn="ctr" indent="0" marL="0">
              <a:buNone/>
            </a:pPr>
            <a:r>
              <a:rPr lang="en-US" sz="2200" dirty="0">
                <a:solidFill>
                  <a:srgbClr val="5F6B78"/>
                </a:solidFill>
              </a:rPr>
              <a:t>›</a:t>
            </a:r>
            <a:endParaRPr lang="en-US" sz="2200" dirty="0"/>
          </a:p>
        </p:txBody>
      </p:sp>
      <p:sp>
        <p:nvSpPr>
          <p:cNvPr id="33" name="Shape 31"/>
          <p:cNvSpPr/>
          <p:nvPr/>
        </p:nvSpPr>
        <p:spPr>
          <a:xfrm>
            <a:off x="8970264" y="3977640"/>
            <a:ext cx="2606040" cy="1463040"/>
          </a:xfrm>
          <a:prstGeom prst="roundRect">
            <a:avLst>
              <a:gd name="adj" fmla="val 7500"/>
            </a:avLst>
          </a:prstGeom>
          <a:solidFill>
            <a:srgbClr val="E4F3EA"/>
          </a:solidFill>
          <a:ln w="12700">
            <a:solidFill>
              <a:srgbClr val="E4F3EA"/>
            </a:solidFill>
            <a:prstDash val="solid"/>
          </a:ln>
        </p:spPr>
      </p:sp>
      <p:sp>
        <p:nvSpPr>
          <p:cNvPr id="34" name="Text 32"/>
          <p:cNvSpPr txBox="1"/>
          <p:nvPr/>
        </p:nvSpPr>
        <p:spPr>
          <a:xfrm>
            <a:off x="9153144" y="4114800"/>
            <a:ext cx="2240280" cy="320040"/>
          </a:xfrm>
          <a:prstGeom prst="rect">
            <a:avLst/>
          </a:prstGeom>
          <a:noFill/>
          <a:ln/>
        </p:spPr>
        <p:txBody>
          <a:bodyPr wrap="square" lIns="0" tIns="0" rIns="0" bIns="0" rtlCol="0" anchor="ctr"/>
          <a:lstStyle/>
          <a:p>
            <a:pPr indent="0" marL="0">
              <a:buNone/>
            </a:pPr>
            <a:r>
              <a:rPr lang="en-US" sz="1200" b="1" dirty="0">
                <a:solidFill>
                  <a:srgbClr val="1E7A4F"/>
                </a:solidFill>
              </a:rPr>
              <a:t>Consultation</a:t>
            </a:r>
            <a:endParaRPr lang="en-US" sz="1200" dirty="0"/>
          </a:p>
        </p:txBody>
      </p:sp>
      <p:sp>
        <p:nvSpPr>
          <p:cNvPr id="35" name="Text 33"/>
          <p:cNvSpPr txBox="1"/>
          <p:nvPr/>
        </p:nvSpPr>
        <p:spPr>
          <a:xfrm>
            <a:off x="9153144" y="4434840"/>
            <a:ext cx="2240280" cy="914400"/>
          </a:xfrm>
          <a:prstGeom prst="rect">
            <a:avLst/>
          </a:prstGeom>
          <a:noFill/>
          <a:ln/>
        </p:spPr>
        <p:txBody>
          <a:bodyPr wrap="square" lIns="0" tIns="0" rIns="0" bIns="0" rtlCol="0" anchor="t"/>
          <a:lstStyle/>
          <a:p>
            <a:pPr indent="0" marL="0">
              <a:buNone/>
            </a:pPr>
            <a:r>
              <a:rPr lang="en-US" sz="1500" dirty="0">
                <a:solidFill>
                  <a:srgbClr val="102D4B"/>
                </a:solidFill>
              </a:rPr>
              <a:t>Le lendemain, décharge du pied, avant la plaie</a:t>
            </a:r>
            <a:endParaRPr lang="en-US" sz="1500" dirty="0"/>
          </a:p>
        </p:txBody>
      </p:sp>
      <p:sp>
        <p:nvSpPr>
          <p:cNvPr id="36" name="Text 34"/>
          <p:cNvSpPr txBox="1"/>
          <p:nvPr/>
        </p:nvSpPr>
        <p:spPr>
          <a:xfrm>
            <a:off x="548640" y="5669280"/>
            <a:ext cx="7315200" cy="320040"/>
          </a:xfrm>
          <a:prstGeom prst="rect">
            <a:avLst/>
          </a:prstGeom>
          <a:noFill/>
          <a:ln/>
        </p:spPr>
        <p:txBody>
          <a:bodyPr wrap="square" lIns="0" tIns="0" rIns="0" bIns="0" rtlCol="0" anchor="ctr"/>
          <a:lstStyle/>
          <a:p>
            <a:pPr indent="0" marL="0">
              <a:buNone/>
            </a:pPr>
            <a:r>
              <a:rPr lang="en-US" sz="1200" i="1" dirty="0">
                <a:solidFill>
                  <a:srgbClr val="5F6B78"/>
                </a:solidFill>
              </a:rPr>
              <a:t>Parcours cible : à valider lors du pilote clinique.</a:t>
            </a:r>
            <a:endParaRPr lang="en-US" sz="12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B42318"/>
                </a:solidFill>
              </a:rPr>
              <a:t>DÉMONSTRATION EN DIRECT</a:t>
            </a:r>
            <a:endParaRPr lang="en-US" sz="1100" dirty="0"/>
          </a:p>
        </p:txBody>
      </p:sp>
      <p:sp>
        <p:nvSpPr>
          <p:cNvPr id="3" name="Text 0"/>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rgbClr val="102D4B"/>
                </a:solidFill>
              </a:rPr>
              <a:t>Du capteur à la décision du soignant</a:t>
            </a:r>
            <a:endParaRPr lang="en-US" sz="3400" dirty="0"/>
          </a:p>
        </p:txBody>
      </p:sp>
      <p:sp>
        <p:nvSpPr>
          <p:cNvPr id="4" name="Shape 2"/>
          <p:cNvSpPr/>
          <p:nvPr/>
        </p:nvSpPr>
        <p:spPr>
          <a:xfrm>
            <a:off x="548640" y="1499616"/>
            <a:ext cx="384048" cy="384048"/>
          </a:xfrm>
          <a:prstGeom prst="ellipse">
            <a:avLst/>
          </a:prstGeom>
          <a:solidFill>
            <a:srgbClr val="E4EFF8"/>
          </a:solidFill>
          <a:ln w="12700">
            <a:solidFill>
              <a:srgbClr val="E4EFF8"/>
            </a:solidFill>
            <a:prstDash val="solid"/>
          </a:ln>
        </p:spPr>
      </p:sp>
      <p:sp>
        <p:nvSpPr>
          <p:cNvPr id="5" name="Text 3"/>
          <p:cNvSpPr txBox="1"/>
          <p:nvPr/>
        </p:nvSpPr>
        <p:spPr>
          <a:xfrm>
            <a:off x="548640" y="1499616"/>
            <a:ext cx="384048" cy="384048"/>
          </a:xfrm>
          <a:prstGeom prst="rect">
            <a:avLst/>
          </a:prstGeom>
          <a:noFill/>
          <a:ln/>
        </p:spPr>
        <p:txBody>
          <a:bodyPr wrap="square" lIns="0" tIns="0" rIns="0" bIns="0" rtlCol="0" anchor="ctr"/>
          <a:lstStyle/>
          <a:p>
            <a:pPr algn="ctr" indent="0" marL="0">
              <a:buNone/>
            </a:pPr>
            <a:r>
              <a:rPr lang="en-US" sz="1300" b="1" dirty="0">
                <a:solidFill>
                  <a:srgbClr val="1F4C78"/>
                </a:solidFill>
              </a:rPr>
              <a:t>1</a:t>
            </a:r>
            <a:endParaRPr lang="en-US" sz="1300" dirty="0"/>
          </a:p>
        </p:txBody>
      </p:sp>
      <p:sp>
        <p:nvSpPr>
          <p:cNvPr id="6" name="Text 4"/>
          <p:cNvSpPr txBox="1"/>
          <p:nvPr/>
        </p:nvSpPr>
        <p:spPr>
          <a:xfrm>
            <a:off x="1097280" y="1463040"/>
            <a:ext cx="4206240" cy="457200"/>
          </a:xfrm>
          <a:prstGeom prst="rect">
            <a:avLst/>
          </a:prstGeom>
          <a:noFill/>
          <a:ln/>
        </p:spPr>
        <p:txBody>
          <a:bodyPr wrap="square" lIns="0" tIns="0" rIns="0" bIns="0" rtlCol="0" anchor="ctr"/>
          <a:lstStyle/>
          <a:p>
            <a:pPr indent="0" marL="0">
              <a:buNone/>
            </a:pPr>
            <a:r>
              <a:rPr lang="en-US" sz="1500" dirty="0">
                <a:solidFill>
                  <a:srgbClr val="102D4B"/>
                </a:solidFill>
              </a:rPr>
              <a:t>Scan de 10 s : vert, écart 0,2 °C</a:t>
            </a:r>
            <a:endParaRPr lang="en-US" sz="1500" dirty="0"/>
          </a:p>
        </p:txBody>
      </p:sp>
      <p:sp>
        <p:nvSpPr>
          <p:cNvPr id="7" name="Shape 5"/>
          <p:cNvSpPr/>
          <p:nvPr/>
        </p:nvSpPr>
        <p:spPr>
          <a:xfrm>
            <a:off x="548640" y="2048256"/>
            <a:ext cx="384048" cy="384048"/>
          </a:xfrm>
          <a:prstGeom prst="ellipse">
            <a:avLst/>
          </a:prstGeom>
          <a:solidFill>
            <a:srgbClr val="E4EFF8"/>
          </a:solidFill>
          <a:ln w="12700">
            <a:solidFill>
              <a:srgbClr val="E4EFF8"/>
            </a:solidFill>
            <a:prstDash val="solid"/>
          </a:ln>
        </p:spPr>
      </p:sp>
      <p:sp>
        <p:nvSpPr>
          <p:cNvPr id="8" name="Text 6"/>
          <p:cNvSpPr txBox="1"/>
          <p:nvPr/>
        </p:nvSpPr>
        <p:spPr>
          <a:xfrm>
            <a:off x="548640" y="2048256"/>
            <a:ext cx="384048" cy="384048"/>
          </a:xfrm>
          <a:prstGeom prst="rect">
            <a:avLst/>
          </a:prstGeom>
          <a:noFill/>
          <a:ln/>
        </p:spPr>
        <p:txBody>
          <a:bodyPr wrap="square" lIns="0" tIns="0" rIns="0" bIns="0" rtlCol="0" anchor="ctr"/>
          <a:lstStyle/>
          <a:p>
            <a:pPr algn="ctr" indent="0" marL="0">
              <a:buNone/>
            </a:pPr>
            <a:r>
              <a:rPr lang="en-US" sz="1300" b="1" dirty="0">
                <a:solidFill>
                  <a:srgbClr val="1F4C78"/>
                </a:solidFill>
              </a:rPr>
              <a:t>2</a:t>
            </a:r>
            <a:endParaRPr lang="en-US" sz="1300" dirty="0"/>
          </a:p>
        </p:txBody>
      </p:sp>
      <p:sp>
        <p:nvSpPr>
          <p:cNvPr id="9" name="Text 7"/>
          <p:cNvSpPr txBox="1"/>
          <p:nvPr/>
        </p:nvSpPr>
        <p:spPr>
          <a:xfrm>
            <a:off x="1097280" y="2011680"/>
            <a:ext cx="4206240" cy="457200"/>
          </a:xfrm>
          <a:prstGeom prst="rect">
            <a:avLst/>
          </a:prstGeom>
          <a:noFill/>
          <a:ln/>
        </p:spPr>
        <p:txBody>
          <a:bodyPr wrap="square" lIns="0" tIns="0" rIns="0" bIns="0" rtlCol="0" anchor="ctr"/>
          <a:lstStyle/>
          <a:p>
            <a:pPr indent="0" marL="0">
              <a:buNone/>
            </a:pPr>
            <a:r>
              <a:rPr lang="en-US" sz="1500" dirty="0">
                <a:solidFill>
                  <a:srgbClr val="102D4B"/>
                </a:solidFill>
              </a:rPr>
              <a:t>On chauffe le capteur droit</a:t>
            </a:r>
            <a:endParaRPr lang="en-US" sz="1500" dirty="0"/>
          </a:p>
        </p:txBody>
      </p:sp>
      <p:sp>
        <p:nvSpPr>
          <p:cNvPr id="10" name="Shape 8"/>
          <p:cNvSpPr/>
          <p:nvPr/>
        </p:nvSpPr>
        <p:spPr>
          <a:xfrm>
            <a:off x="548640" y="2596896"/>
            <a:ext cx="384048" cy="384048"/>
          </a:xfrm>
          <a:prstGeom prst="ellipse">
            <a:avLst/>
          </a:prstGeom>
          <a:solidFill>
            <a:srgbClr val="E4EFF8"/>
          </a:solidFill>
          <a:ln w="12700">
            <a:solidFill>
              <a:srgbClr val="E4EFF8"/>
            </a:solidFill>
            <a:prstDash val="solid"/>
          </a:ln>
        </p:spPr>
      </p:sp>
      <p:sp>
        <p:nvSpPr>
          <p:cNvPr id="11" name="Text 9"/>
          <p:cNvSpPr txBox="1"/>
          <p:nvPr/>
        </p:nvSpPr>
        <p:spPr>
          <a:xfrm>
            <a:off x="548640" y="2596896"/>
            <a:ext cx="384048" cy="384048"/>
          </a:xfrm>
          <a:prstGeom prst="rect">
            <a:avLst/>
          </a:prstGeom>
          <a:noFill/>
          <a:ln/>
        </p:spPr>
        <p:txBody>
          <a:bodyPr wrap="square" lIns="0" tIns="0" rIns="0" bIns="0" rtlCol="0" anchor="ctr"/>
          <a:lstStyle/>
          <a:p>
            <a:pPr algn="ctr" indent="0" marL="0">
              <a:buNone/>
            </a:pPr>
            <a:r>
              <a:rPr lang="en-US" sz="1300" b="1" dirty="0">
                <a:solidFill>
                  <a:srgbClr val="1F4C78"/>
                </a:solidFill>
              </a:rPr>
              <a:t>3</a:t>
            </a:r>
            <a:endParaRPr lang="en-US" sz="1300" dirty="0"/>
          </a:p>
        </p:txBody>
      </p:sp>
      <p:sp>
        <p:nvSpPr>
          <p:cNvPr id="12" name="Text 10"/>
          <p:cNvSpPr txBox="1"/>
          <p:nvPr/>
        </p:nvSpPr>
        <p:spPr>
          <a:xfrm>
            <a:off x="1097280" y="2560320"/>
            <a:ext cx="4206240" cy="457200"/>
          </a:xfrm>
          <a:prstGeom prst="rect">
            <a:avLst/>
          </a:prstGeom>
          <a:noFill/>
          <a:ln/>
        </p:spPr>
        <p:txBody>
          <a:bodyPr wrap="square" lIns="0" tIns="0" rIns="0" bIns="0" rtlCol="0" anchor="ctr"/>
          <a:lstStyle/>
          <a:p>
            <a:pPr indent="0" marL="0">
              <a:buNone/>
            </a:pPr>
            <a:r>
              <a:rPr lang="en-US" sz="1500" dirty="0">
                <a:solidFill>
                  <a:srgbClr val="102D4B"/>
                </a:solidFill>
              </a:rPr>
              <a:t>Scan : orange, pied droit plus chaud</a:t>
            </a:r>
            <a:endParaRPr lang="en-US" sz="1500" dirty="0"/>
          </a:p>
        </p:txBody>
      </p:sp>
      <p:sp>
        <p:nvSpPr>
          <p:cNvPr id="13" name="Shape 11"/>
          <p:cNvSpPr/>
          <p:nvPr/>
        </p:nvSpPr>
        <p:spPr>
          <a:xfrm>
            <a:off x="548640" y="3145536"/>
            <a:ext cx="384048" cy="384048"/>
          </a:xfrm>
          <a:prstGeom prst="ellipse">
            <a:avLst/>
          </a:prstGeom>
          <a:solidFill>
            <a:srgbClr val="E4EFF8"/>
          </a:solidFill>
          <a:ln w="12700">
            <a:solidFill>
              <a:srgbClr val="E4EFF8"/>
            </a:solidFill>
            <a:prstDash val="solid"/>
          </a:ln>
        </p:spPr>
      </p:sp>
      <p:sp>
        <p:nvSpPr>
          <p:cNvPr id="14" name="Text 12"/>
          <p:cNvSpPr txBox="1"/>
          <p:nvPr/>
        </p:nvSpPr>
        <p:spPr>
          <a:xfrm>
            <a:off x="548640" y="3145536"/>
            <a:ext cx="384048" cy="384048"/>
          </a:xfrm>
          <a:prstGeom prst="rect">
            <a:avLst/>
          </a:prstGeom>
          <a:noFill/>
          <a:ln/>
        </p:spPr>
        <p:txBody>
          <a:bodyPr wrap="square" lIns="0" tIns="0" rIns="0" bIns="0" rtlCol="0" anchor="ctr"/>
          <a:lstStyle/>
          <a:p>
            <a:pPr algn="ctr" indent="0" marL="0">
              <a:buNone/>
            </a:pPr>
            <a:r>
              <a:rPr lang="en-US" sz="1300" b="1" dirty="0">
                <a:solidFill>
                  <a:srgbClr val="1F4C78"/>
                </a:solidFill>
              </a:rPr>
              <a:t>4</a:t>
            </a:r>
            <a:endParaRPr lang="en-US" sz="1300" dirty="0"/>
          </a:p>
        </p:txBody>
      </p:sp>
      <p:sp>
        <p:nvSpPr>
          <p:cNvPr id="15" name="Text 13"/>
          <p:cNvSpPr txBox="1"/>
          <p:nvPr/>
        </p:nvSpPr>
        <p:spPr>
          <a:xfrm>
            <a:off x="1097280" y="3108960"/>
            <a:ext cx="4206240" cy="457200"/>
          </a:xfrm>
          <a:prstGeom prst="rect">
            <a:avLst/>
          </a:prstGeom>
          <a:noFill/>
          <a:ln/>
        </p:spPr>
        <p:txBody>
          <a:bodyPr wrap="square" lIns="0" tIns="0" rIns="0" bIns="0" rtlCol="0" anchor="ctr"/>
          <a:lstStyle/>
          <a:p>
            <a:pPr indent="0" marL="0">
              <a:buNone/>
            </a:pPr>
            <a:r>
              <a:rPr lang="en-US" sz="1500" dirty="0">
                <a:solidFill>
                  <a:srgbClr val="102D4B"/>
                </a:solidFill>
              </a:rPr>
              <a:t>Nouveau scan : rouge, message en derja</a:t>
            </a:r>
            <a:endParaRPr lang="en-US" sz="1500" dirty="0"/>
          </a:p>
        </p:txBody>
      </p:sp>
      <p:sp>
        <p:nvSpPr>
          <p:cNvPr id="16" name="Shape 14"/>
          <p:cNvSpPr/>
          <p:nvPr/>
        </p:nvSpPr>
        <p:spPr>
          <a:xfrm>
            <a:off x="548640" y="3694176"/>
            <a:ext cx="384048" cy="384048"/>
          </a:xfrm>
          <a:prstGeom prst="ellipse">
            <a:avLst/>
          </a:prstGeom>
          <a:solidFill>
            <a:srgbClr val="102D4B"/>
          </a:solidFill>
          <a:ln w="12700">
            <a:solidFill>
              <a:srgbClr val="102D4B"/>
            </a:solidFill>
            <a:prstDash val="solid"/>
          </a:ln>
        </p:spPr>
      </p:sp>
      <p:sp>
        <p:nvSpPr>
          <p:cNvPr id="17" name="Text 15"/>
          <p:cNvSpPr txBox="1"/>
          <p:nvPr/>
        </p:nvSpPr>
        <p:spPr>
          <a:xfrm>
            <a:off x="548640" y="3694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8" name="Text 16"/>
          <p:cNvSpPr txBox="1"/>
          <p:nvPr/>
        </p:nvSpPr>
        <p:spPr>
          <a:xfrm>
            <a:off x="1097280" y="3657600"/>
            <a:ext cx="4206240" cy="457200"/>
          </a:xfrm>
          <a:prstGeom prst="rect">
            <a:avLst/>
          </a:prstGeom>
          <a:noFill/>
          <a:ln/>
        </p:spPr>
        <p:txBody>
          <a:bodyPr wrap="square" lIns="0" tIns="0" rIns="0" bIns="0" rtlCol="0" anchor="ctr"/>
          <a:lstStyle/>
          <a:p>
            <a:pPr indent="0" marL="0">
              <a:buNone/>
            </a:pPr>
            <a:r>
              <a:rPr lang="en-US" sz="1500" dirty="0">
                <a:solidFill>
                  <a:srgbClr val="102D4B"/>
                </a:solidFill>
              </a:rPr>
              <a:t>Tableau de bord : alerte en tête de file</a:t>
            </a:r>
            <a:endParaRPr lang="en-US" sz="1500" dirty="0"/>
          </a:p>
        </p:txBody>
      </p:sp>
      <p:sp>
        <p:nvSpPr>
          <p:cNvPr id="19" name="Shape 17"/>
          <p:cNvSpPr/>
          <p:nvPr/>
        </p:nvSpPr>
        <p:spPr>
          <a:xfrm>
            <a:off x="548640" y="4242816"/>
            <a:ext cx="384048" cy="384048"/>
          </a:xfrm>
          <a:prstGeom prst="ellipse">
            <a:avLst/>
          </a:prstGeom>
          <a:solidFill>
            <a:srgbClr val="102D4B"/>
          </a:solidFill>
          <a:ln w="12700">
            <a:solidFill>
              <a:srgbClr val="102D4B"/>
            </a:solidFill>
            <a:prstDash val="solid"/>
          </a:ln>
        </p:spPr>
      </p:sp>
      <p:sp>
        <p:nvSpPr>
          <p:cNvPr id="20" name="Text 18"/>
          <p:cNvSpPr txBox="1"/>
          <p:nvPr/>
        </p:nvSpPr>
        <p:spPr>
          <a:xfrm>
            <a:off x="548640" y="4242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1" name="Text 19"/>
          <p:cNvSpPr txBox="1"/>
          <p:nvPr/>
        </p:nvSpPr>
        <p:spPr>
          <a:xfrm>
            <a:off x="1097280" y="4206240"/>
            <a:ext cx="4206240" cy="457200"/>
          </a:xfrm>
          <a:prstGeom prst="rect">
            <a:avLst/>
          </a:prstGeom>
          <a:noFill/>
          <a:ln/>
        </p:spPr>
        <p:txBody>
          <a:bodyPr wrap="square" lIns="0" tIns="0" rIns="0" bIns="0" rtlCol="0" anchor="ctr"/>
          <a:lstStyle/>
          <a:p>
            <a:pPr indent="0" marL="0">
              <a:buNone/>
            </a:pPr>
            <a:r>
              <a:rPr lang="en-US" sz="1500" dirty="0">
                <a:solidFill>
                  <a:srgbClr val="102D4B"/>
                </a:solidFill>
              </a:rPr>
              <a:t>Preuves → confirmer → enregistrer (3 étapes)</a:t>
            </a:r>
            <a:endParaRPr lang="en-US" sz="1500" dirty="0"/>
          </a:p>
        </p:txBody>
      </p:sp>
      <p:sp>
        <p:nvSpPr>
          <p:cNvPr id="22" name="Shape 20"/>
          <p:cNvSpPr/>
          <p:nvPr/>
        </p:nvSpPr>
        <p:spPr>
          <a:xfrm>
            <a:off x="548640" y="4791456"/>
            <a:ext cx="384048" cy="384048"/>
          </a:xfrm>
          <a:prstGeom prst="ellipse">
            <a:avLst/>
          </a:prstGeom>
          <a:solidFill>
            <a:srgbClr val="102D4B"/>
          </a:solidFill>
          <a:ln w="12700">
            <a:solidFill>
              <a:srgbClr val="102D4B"/>
            </a:solidFill>
            <a:prstDash val="solid"/>
          </a:ln>
        </p:spPr>
      </p:sp>
      <p:sp>
        <p:nvSpPr>
          <p:cNvPr id="23" name="Text 21"/>
          <p:cNvSpPr txBox="1"/>
          <p:nvPr/>
        </p:nvSpPr>
        <p:spPr>
          <a:xfrm>
            <a:off x="548640" y="4791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4" name="Text 22"/>
          <p:cNvSpPr txBox="1"/>
          <p:nvPr/>
        </p:nvSpPr>
        <p:spPr>
          <a:xfrm>
            <a:off x="1097280" y="4754880"/>
            <a:ext cx="4206240" cy="457200"/>
          </a:xfrm>
          <a:prstGeom prst="rect">
            <a:avLst/>
          </a:prstGeom>
          <a:noFill/>
          <a:ln/>
        </p:spPr>
        <p:txBody>
          <a:bodyPr wrap="square" lIns="0" tIns="0" rIns="0" bIns="0" rtlCol="0" anchor="ctr"/>
          <a:lstStyle/>
          <a:p>
            <a:pPr indent="0" marL="0">
              <a:buNone/>
            </a:pPr>
            <a:r>
              <a:rPr lang="en-US" sz="1500" dirty="0">
                <a:solidFill>
                  <a:srgbClr val="102D4B"/>
                </a:solidFill>
              </a:rPr>
              <a:t>Le patient voit la décision et la note</a:t>
            </a:r>
            <a:endParaRPr lang="en-US" sz="1500" dirty="0"/>
          </a:p>
        </p:txBody>
      </p:sp>
      <p:sp>
        <p:nvSpPr>
          <p:cNvPr id="25" name="Shape 23"/>
          <p:cNvSpPr/>
          <p:nvPr/>
        </p:nvSpPr>
        <p:spPr>
          <a:xfrm>
            <a:off x="548640" y="5340096"/>
            <a:ext cx="384048" cy="384048"/>
          </a:xfrm>
          <a:prstGeom prst="ellipse">
            <a:avLst/>
          </a:prstGeom>
          <a:solidFill>
            <a:srgbClr val="102D4B"/>
          </a:solidFill>
          <a:ln w="12700">
            <a:solidFill>
              <a:srgbClr val="102D4B"/>
            </a:solidFill>
            <a:prstDash val="solid"/>
          </a:ln>
        </p:spPr>
      </p:sp>
      <p:sp>
        <p:nvSpPr>
          <p:cNvPr id="26" name="Text 24"/>
          <p:cNvSpPr txBox="1"/>
          <p:nvPr/>
        </p:nvSpPr>
        <p:spPr>
          <a:xfrm>
            <a:off x="548640" y="5340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7" name="Text 25"/>
          <p:cNvSpPr txBox="1"/>
          <p:nvPr/>
        </p:nvSpPr>
        <p:spPr>
          <a:xfrm>
            <a:off x="1097280" y="5303520"/>
            <a:ext cx="4206240" cy="457200"/>
          </a:xfrm>
          <a:prstGeom prst="rect">
            <a:avLst/>
          </a:prstGeom>
          <a:noFill/>
          <a:ln/>
        </p:spPr>
        <p:txBody>
          <a:bodyPr wrap="square" lIns="0" tIns="0" rIns="0" bIns="0" rtlCol="0" anchor="ctr"/>
          <a:lstStyle/>
          <a:p>
            <a:pPr indent="0" marL="0">
              <a:buNone/>
            </a:pPr>
            <a:r>
              <a:rPr lang="en-US" sz="1500" dirty="0">
                <a:solidFill>
                  <a:srgbClr val="102D4B"/>
                </a:solidFill>
              </a:rPr>
              <a:t>Signe de danger : règle fixe, 190, sans IA</a:t>
            </a:r>
            <a:endParaRPr lang="en-US" sz="1500" dirty="0"/>
          </a:p>
        </p:txBody>
      </p:sp>
      <p:pic>
        <p:nvPicPr>
          <p:cNvPr id="28" name="Image 0" descr="preencoded.png">    </p:cNvPr>
          <p:cNvPicPr>
            <a:picLocks noChangeAspect="1"/>
          </p:cNvPicPr>
          <p:nvPr/>
        </p:nvPicPr>
        <p:blipFill>
          <a:blip r:embed="rId1"/>
          <a:stretch>
            <a:fillRect/>
          </a:stretch>
        </p:blipFill>
        <p:spPr>
          <a:xfrm>
            <a:off x="5440680" y="1463040"/>
            <a:ext cx="6217920" cy="3843020"/>
          </a:xfrm>
          <a:prstGeom prst="rect">
            <a:avLst/>
          </a:prstGeom>
        </p:spPr>
      </p:pic>
      <p:sp>
        <p:nvSpPr>
          <p:cNvPr id="29" name="Text 26"/>
          <p:cNvSpPr txBox="1"/>
          <p:nvPr/>
        </p:nvSpPr>
        <p:spPr>
          <a:xfrm>
            <a:off x="5440680" y="5440680"/>
            <a:ext cx="6217920" cy="365760"/>
          </a:xfrm>
          <a:prstGeom prst="rect">
            <a:avLst/>
          </a:prstGeom>
          <a:noFill/>
          <a:ln/>
        </p:spPr>
        <p:txBody>
          <a:bodyPr wrap="square" lIns="0" tIns="0" rIns="0" bIns="0" rtlCol="0" anchor="ctr"/>
          <a:lstStyle/>
          <a:p>
            <a:pPr indent="0" marL="0">
              <a:buNone/>
            </a:pPr>
            <a:r>
              <a:rPr lang="en-US" sz="1100" i="1" dirty="0">
                <a:solidFill>
                  <a:srgbClr val="5F6B78"/>
                </a:solidFill>
              </a:rPr>
              <a:t>Matériel réel : Arduino Uno + 2 × DHT22 · repli : simulation étiquetée « SIMULATION »</a:t>
            </a:r>
            <a:endParaRPr lang="en-US" sz="11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1F4C78"/>
                </a:solidFill>
              </a:rPr>
              <a:t>TECHNOLOGIE ET INNOVATION</a:t>
            </a:r>
            <a:endParaRPr lang="en-US" sz="1100" dirty="0"/>
          </a:p>
        </p:txBody>
      </p:sp>
      <p:sp>
        <p:nvSpPr>
          <p:cNvPr id="3" name="Text 0"/>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rgbClr val="102D4B"/>
                </a:solidFill>
              </a:rPr>
              <a:t>Détection explicable, IA limitée au langage</a:t>
            </a:r>
            <a:endParaRPr lang="en-US" sz="3400" dirty="0"/>
          </a:p>
        </p:txBody>
      </p:sp>
      <p:sp>
        <p:nvSpPr>
          <p:cNvPr id="4" name="Shape 2"/>
          <p:cNvSpPr/>
          <p:nvPr/>
        </p:nvSpPr>
        <p:spPr>
          <a:xfrm>
            <a:off x="1051560" y="1508760"/>
            <a:ext cx="868680" cy="868680"/>
          </a:xfrm>
          <a:prstGeom prst="ellipse">
            <a:avLst/>
          </a:prstGeom>
          <a:solidFill>
            <a:srgbClr val="E4EFF8"/>
          </a:solidFill>
          <a:ln w="12700">
            <a:solidFill>
              <a:srgbClr val="E4EFF8"/>
            </a:solidFill>
            <a:prstDash val="solid"/>
          </a:ln>
        </p:spPr>
      </p:sp>
      <p:pic>
        <p:nvPicPr>
          <p:cNvPr id="5" name="Image 0" descr="preencoded.png">    </p:cNvPr>
          <p:cNvPicPr>
            <a:picLocks noChangeAspect="1"/>
          </p:cNvPicPr>
          <p:nvPr/>
        </p:nvPicPr>
        <p:blipFill>
          <a:blip r:embed="rId1"/>
          <a:stretch>
            <a:fillRect/>
          </a:stretch>
        </p:blipFill>
        <p:spPr>
          <a:xfrm>
            <a:off x="1242670" y="1699870"/>
            <a:ext cx="486461" cy="486461"/>
          </a:xfrm>
          <a:prstGeom prst="rect">
            <a:avLst/>
          </a:prstGeom>
        </p:spPr>
      </p:pic>
      <p:sp>
        <p:nvSpPr>
          <p:cNvPr id="6" name="Text 3"/>
          <p:cNvSpPr txBox="1"/>
          <p:nvPr/>
        </p:nvSpPr>
        <p:spPr>
          <a:xfrm>
            <a:off x="548640" y="2468880"/>
            <a:ext cx="1874520" cy="365760"/>
          </a:xfrm>
          <a:prstGeom prst="rect">
            <a:avLst/>
          </a:prstGeom>
          <a:noFill/>
          <a:ln/>
        </p:spPr>
        <p:txBody>
          <a:bodyPr wrap="square" lIns="0" tIns="0" rIns="0" bIns="0" rtlCol="0" anchor="ctr"/>
          <a:lstStyle/>
          <a:p>
            <a:pPr algn="ctr" indent="0" marL="0">
              <a:buNone/>
            </a:pPr>
            <a:r>
              <a:rPr lang="en-US" sz="1600" b="1" dirty="0">
                <a:solidFill>
                  <a:srgbClr val="102D4B"/>
                </a:solidFill>
              </a:rPr>
              <a:t>Capteurs</a:t>
            </a:r>
            <a:endParaRPr lang="en-US" sz="1600" dirty="0"/>
          </a:p>
        </p:txBody>
      </p:sp>
      <p:sp>
        <p:nvSpPr>
          <p:cNvPr id="7" name="Text 4"/>
          <p:cNvSpPr txBox="1"/>
          <p:nvPr/>
        </p:nvSpPr>
        <p:spPr>
          <a:xfrm>
            <a:off x="548640" y="2834640"/>
            <a:ext cx="1874520" cy="640080"/>
          </a:xfrm>
          <a:prstGeom prst="rect">
            <a:avLst/>
          </a:prstGeom>
          <a:noFill/>
          <a:ln/>
        </p:spPr>
        <p:txBody>
          <a:bodyPr wrap="square" lIns="0" tIns="0" rIns="0" bIns="0" rtlCol="0" anchor="t"/>
          <a:lstStyle/>
          <a:p>
            <a:pPr algn="ctr" indent="0" marL="0">
              <a:buNone/>
            </a:pPr>
            <a:r>
              <a:rPr lang="en-US" sz="1200" dirty="0">
                <a:solidFill>
                  <a:srgbClr val="4A5B6E"/>
                </a:solidFill>
              </a:rPr>
              <a:t>DHT22 × 2</a:t>
            </a:r>
            <a:endParaRPr lang="en-US" sz="1200" dirty="0"/>
          </a:p>
          <a:p>
            <a:pPr algn="ctr" indent="0" marL="0">
              <a:buNone/>
            </a:pPr>
            <a:r>
              <a:rPr lang="en-US" sz="1200" dirty="0">
                <a:solidFill>
                  <a:srgbClr val="4A5B6E"/>
                </a:solidFill>
              </a:rPr>
              <a:t>gauche / droite</a:t>
            </a:r>
            <a:endParaRPr lang="en-US" sz="1200" dirty="0"/>
          </a:p>
        </p:txBody>
      </p:sp>
      <p:sp>
        <p:nvSpPr>
          <p:cNvPr id="8" name="Shape 5"/>
          <p:cNvSpPr/>
          <p:nvPr/>
        </p:nvSpPr>
        <p:spPr>
          <a:xfrm>
            <a:off x="2057400" y="1938528"/>
            <a:ext cx="685800" cy="0"/>
          </a:xfrm>
          <a:prstGeom prst="line">
            <a:avLst/>
          </a:prstGeom>
          <a:noFill/>
          <a:ln w="25400">
            <a:solidFill>
              <a:srgbClr val="8DBADB"/>
            </a:solidFill>
            <a:prstDash val="solid"/>
            <a:tailEnd type="triangle"/>
          </a:ln>
        </p:spPr>
      </p:sp>
      <p:sp>
        <p:nvSpPr>
          <p:cNvPr id="9" name="Shape 6"/>
          <p:cNvSpPr/>
          <p:nvPr/>
        </p:nvSpPr>
        <p:spPr>
          <a:xfrm>
            <a:off x="3319272" y="1508760"/>
            <a:ext cx="868680" cy="868680"/>
          </a:xfrm>
          <a:prstGeom prst="ellipse">
            <a:avLst/>
          </a:prstGeom>
          <a:solidFill>
            <a:srgbClr val="E4EFF8"/>
          </a:solidFill>
          <a:ln w="12700">
            <a:solidFill>
              <a:srgbClr val="E4EFF8"/>
            </a:solidFill>
            <a:prstDash val="solid"/>
          </a:ln>
        </p:spPr>
      </p:sp>
      <p:pic>
        <p:nvPicPr>
          <p:cNvPr id="10" name="Image 1" descr="preencoded.png">    </p:cNvPr>
          <p:cNvPicPr>
            <a:picLocks noChangeAspect="1"/>
          </p:cNvPicPr>
          <p:nvPr/>
        </p:nvPicPr>
        <p:blipFill>
          <a:blip r:embed="rId2"/>
          <a:stretch>
            <a:fillRect/>
          </a:stretch>
        </p:blipFill>
        <p:spPr>
          <a:xfrm>
            <a:off x="3510382" y="1699870"/>
            <a:ext cx="486461" cy="486461"/>
          </a:xfrm>
          <a:prstGeom prst="rect">
            <a:avLst/>
          </a:prstGeom>
        </p:spPr>
      </p:pic>
      <p:sp>
        <p:nvSpPr>
          <p:cNvPr id="11" name="Text 7"/>
          <p:cNvSpPr txBox="1"/>
          <p:nvPr/>
        </p:nvSpPr>
        <p:spPr>
          <a:xfrm>
            <a:off x="2816352" y="2468880"/>
            <a:ext cx="1874520" cy="365760"/>
          </a:xfrm>
          <a:prstGeom prst="rect">
            <a:avLst/>
          </a:prstGeom>
          <a:noFill/>
          <a:ln/>
        </p:spPr>
        <p:txBody>
          <a:bodyPr wrap="square" lIns="0" tIns="0" rIns="0" bIns="0" rtlCol="0" anchor="ctr"/>
          <a:lstStyle/>
          <a:p>
            <a:pPr algn="ctr" indent="0" marL="0">
              <a:buNone/>
            </a:pPr>
            <a:r>
              <a:rPr lang="en-US" sz="1600" b="1" dirty="0">
                <a:solidFill>
                  <a:srgbClr val="102D4B"/>
                </a:solidFill>
              </a:rPr>
              <a:t>Arduino</a:t>
            </a:r>
            <a:endParaRPr lang="en-US" sz="1600" dirty="0"/>
          </a:p>
        </p:txBody>
      </p:sp>
      <p:sp>
        <p:nvSpPr>
          <p:cNvPr id="12" name="Text 8"/>
          <p:cNvSpPr txBox="1"/>
          <p:nvPr/>
        </p:nvSpPr>
        <p:spPr>
          <a:xfrm>
            <a:off x="2816352" y="2834640"/>
            <a:ext cx="1874520" cy="640080"/>
          </a:xfrm>
          <a:prstGeom prst="rect">
            <a:avLst/>
          </a:prstGeom>
          <a:noFill/>
          <a:ln/>
        </p:spPr>
        <p:txBody>
          <a:bodyPr wrap="square" lIns="0" tIns="0" rIns="0" bIns="0" rtlCol="0" anchor="t"/>
          <a:lstStyle/>
          <a:p>
            <a:pPr algn="ctr" indent="0" marL="0">
              <a:buNone/>
            </a:pPr>
            <a:r>
              <a:rPr lang="en-US" sz="1200" dirty="0">
                <a:solidFill>
                  <a:srgbClr val="4A5B6E"/>
                </a:solidFill>
              </a:rPr>
              <a:t>moyenne 10 s</a:t>
            </a:r>
            <a:endParaRPr lang="en-US" sz="1200" dirty="0"/>
          </a:p>
          <a:p>
            <a:pPr algn="ctr" indent="0" marL="0">
              <a:buNone/>
            </a:pPr>
            <a:r>
              <a:rPr lang="en-US" sz="1200" dirty="0">
                <a:solidFill>
                  <a:srgbClr val="4A5B6E"/>
                </a:solidFill>
              </a:rPr>
              <a:t>trames CRC-8</a:t>
            </a:r>
            <a:endParaRPr lang="en-US" sz="1200" dirty="0"/>
          </a:p>
        </p:txBody>
      </p:sp>
      <p:sp>
        <p:nvSpPr>
          <p:cNvPr id="13" name="Shape 9"/>
          <p:cNvSpPr/>
          <p:nvPr/>
        </p:nvSpPr>
        <p:spPr>
          <a:xfrm>
            <a:off x="4325112" y="1938528"/>
            <a:ext cx="685800" cy="0"/>
          </a:xfrm>
          <a:prstGeom prst="line">
            <a:avLst/>
          </a:prstGeom>
          <a:noFill/>
          <a:ln w="25400">
            <a:solidFill>
              <a:srgbClr val="8DBADB"/>
            </a:solidFill>
            <a:prstDash val="solid"/>
            <a:tailEnd type="triangle"/>
          </a:ln>
        </p:spPr>
      </p:sp>
      <p:sp>
        <p:nvSpPr>
          <p:cNvPr id="14" name="Shape 10"/>
          <p:cNvSpPr/>
          <p:nvPr/>
        </p:nvSpPr>
        <p:spPr>
          <a:xfrm>
            <a:off x="5586984" y="1508760"/>
            <a:ext cx="868680" cy="868680"/>
          </a:xfrm>
          <a:prstGeom prst="ellipse">
            <a:avLst/>
          </a:prstGeom>
          <a:solidFill>
            <a:srgbClr val="E4EFF8"/>
          </a:solidFill>
          <a:ln w="12700">
            <a:solidFill>
              <a:srgbClr val="E4EFF8"/>
            </a:solidFill>
            <a:prstDash val="solid"/>
          </a:ln>
        </p:spPr>
      </p:sp>
      <p:pic>
        <p:nvPicPr>
          <p:cNvPr id="15" name="Image 2" descr="preencoded.png">    </p:cNvPr>
          <p:cNvPicPr>
            <a:picLocks noChangeAspect="1"/>
          </p:cNvPicPr>
          <p:nvPr/>
        </p:nvPicPr>
        <p:blipFill>
          <a:blip r:embed="rId3"/>
          <a:stretch>
            <a:fillRect/>
          </a:stretch>
        </p:blipFill>
        <p:spPr>
          <a:xfrm>
            <a:off x="5778094" y="1699870"/>
            <a:ext cx="486461" cy="486461"/>
          </a:xfrm>
          <a:prstGeom prst="rect">
            <a:avLst/>
          </a:prstGeom>
        </p:spPr>
      </p:pic>
      <p:sp>
        <p:nvSpPr>
          <p:cNvPr id="16" name="Text 11"/>
          <p:cNvSpPr txBox="1"/>
          <p:nvPr/>
        </p:nvSpPr>
        <p:spPr>
          <a:xfrm>
            <a:off x="5084064" y="2468880"/>
            <a:ext cx="1874520" cy="365760"/>
          </a:xfrm>
          <a:prstGeom prst="rect">
            <a:avLst/>
          </a:prstGeom>
          <a:noFill/>
          <a:ln/>
        </p:spPr>
        <p:txBody>
          <a:bodyPr wrap="square" lIns="0" tIns="0" rIns="0" bIns="0" rtlCol="0" anchor="ctr"/>
          <a:lstStyle/>
          <a:p>
            <a:pPr algn="ctr" indent="0" marL="0">
              <a:buNone/>
            </a:pPr>
            <a:r>
              <a:rPr lang="en-US" sz="1600" b="1" dirty="0">
                <a:solidFill>
                  <a:srgbClr val="102D4B"/>
                </a:solidFill>
              </a:rPr>
              <a:t>Pont + MQTT</a:t>
            </a:r>
            <a:endParaRPr lang="en-US" sz="1600" dirty="0"/>
          </a:p>
        </p:txBody>
      </p:sp>
      <p:sp>
        <p:nvSpPr>
          <p:cNvPr id="17" name="Text 12"/>
          <p:cNvSpPr txBox="1"/>
          <p:nvPr/>
        </p:nvSpPr>
        <p:spPr>
          <a:xfrm>
            <a:off x="5084064" y="2834640"/>
            <a:ext cx="1874520" cy="640080"/>
          </a:xfrm>
          <a:prstGeom prst="rect">
            <a:avLst/>
          </a:prstGeom>
          <a:noFill/>
          <a:ln/>
        </p:spPr>
        <p:txBody>
          <a:bodyPr wrap="square" lIns="0" tIns="0" rIns="0" bIns="0" rtlCol="0" anchor="t"/>
          <a:lstStyle/>
          <a:p>
            <a:pPr algn="ctr" indent="0" marL="0">
              <a:buNone/>
            </a:pPr>
            <a:r>
              <a:rPr lang="en-US" sz="1200" dirty="0">
                <a:solidFill>
                  <a:srgbClr val="4A5B6E"/>
                </a:solidFill>
              </a:rPr>
              <a:t>contrôle d'intégrité</a:t>
            </a:r>
            <a:endParaRPr lang="en-US" sz="1200" dirty="0"/>
          </a:p>
          <a:p>
            <a:pPr algn="ctr" indent="0" marL="0">
              <a:buNone/>
            </a:pPr>
            <a:r>
              <a:rPr lang="en-US" sz="1200" dirty="0">
                <a:solidFill>
                  <a:srgbClr val="4A5B6E"/>
                </a:solidFill>
              </a:rPr>
              <a:t>source étiquetée</a:t>
            </a:r>
            <a:endParaRPr lang="en-US" sz="1200" dirty="0"/>
          </a:p>
        </p:txBody>
      </p:sp>
      <p:sp>
        <p:nvSpPr>
          <p:cNvPr id="18" name="Shape 13"/>
          <p:cNvSpPr/>
          <p:nvPr/>
        </p:nvSpPr>
        <p:spPr>
          <a:xfrm>
            <a:off x="6592824" y="1938528"/>
            <a:ext cx="685800" cy="0"/>
          </a:xfrm>
          <a:prstGeom prst="line">
            <a:avLst/>
          </a:prstGeom>
          <a:noFill/>
          <a:ln w="25400">
            <a:solidFill>
              <a:srgbClr val="8DBADB"/>
            </a:solidFill>
            <a:prstDash val="solid"/>
            <a:tailEnd type="triangle"/>
          </a:ln>
        </p:spPr>
      </p:sp>
      <p:sp>
        <p:nvSpPr>
          <p:cNvPr id="19" name="Shape 14"/>
          <p:cNvSpPr/>
          <p:nvPr/>
        </p:nvSpPr>
        <p:spPr>
          <a:xfrm>
            <a:off x="7854696" y="1508760"/>
            <a:ext cx="868680" cy="868680"/>
          </a:xfrm>
          <a:prstGeom prst="ellipse">
            <a:avLst/>
          </a:prstGeom>
          <a:solidFill>
            <a:srgbClr val="102D4B"/>
          </a:solidFill>
          <a:ln w="12700">
            <a:solidFill>
              <a:srgbClr val="102D4B"/>
            </a:solidFill>
            <a:prstDash val="solid"/>
          </a:ln>
        </p:spPr>
      </p:sp>
      <p:pic>
        <p:nvPicPr>
          <p:cNvPr id="20" name="Image 3" descr="preencoded.png">    </p:cNvPr>
          <p:cNvPicPr>
            <a:picLocks noChangeAspect="1"/>
          </p:cNvPicPr>
          <p:nvPr/>
        </p:nvPicPr>
        <p:blipFill>
          <a:blip r:embed="rId4"/>
          <a:stretch>
            <a:fillRect/>
          </a:stretch>
        </p:blipFill>
        <p:spPr>
          <a:xfrm>
            <a:off x="8045806" y="1699870"/>
            <a:ext cx="486461" cy="486461"/>
          </a:xfrm>
          <a:prstGeom prst="rect">
            <a:avLst/>
          </a:prstGeom>
        </p:spPr>
      </p:pic>
      <p:sp>
        <p:nvSpPr>
          <p:cNvPr id="21" name="Text 15"/>
          <p:cNvSpPr txBox="1"/>
          <p:nvPr/>
        </p:nvSpPr>
        <p:spPr>
          <a:xfrm>
            <a:off x="7351776" y="2468880"/>
            <a:ext cx="1874520" cy="365760"/>
          </a:xfrm>
          <a:prstGeom prst="rect">
            <a:avLst/>
          </a:prstGeom>
          <a:noFill/>
          <a:ln/>
        </p:spPr>
        <p:txBody>
          <a:bodyPr wrap="square" lIns="0" tIns="0" rIns="0" bIns="0" rtlCol="0" anchor="ctr"/>
          <a:lstStyle/>
          <a:p>
            <a:pPr algn="ctr" indent="0" marL="0">
              <a:buNone/>
            </a:pPr>
            <a:r>
              <a:rPr lang="en-US" sz="1600" b="1" dirty="0">
                <a:solidFill>
                  <a:srgbClr val="102D4B"/>
                </a:solidFill>
              </a:rPr>
              <a:t>Hub</a:t>
            </a:r>
            <a:endParaRPr lang="en-US" sz="1600" dirty="0"/>
          </a:p>
        </p:txBody>
      </p:sp>
      <p:sp>
        <p:nvSpPr>
          <p:cNvPr id="22" name="Text 16"/>
          <p:cNvSpPr txBox="1"/>
          <p:nvPr/>
        </p:nvSpPr>
        <p:spPr>
          <a:xfrm>
            <a:off x="7351776" y="2834640"/>
            <a:ext cx="1874520" cy="640080"/>
          </a:xfrm>
          <a:prstGeom prst="rect">
            <a:avLst/>
          </a:prstGeom>
          <a:noFill/>
          <a:ln/>
        </p:spPr>
        <p:txBody>
          <a:bodyPr wrap="square" lIns="0" tIns="0" rIns="0" bIns="0" rtlCol="0" anchor="t"/>
          <a:lstStyle/>
          <a:p>
            <a:pPr algn="ctr" indent="0" marL="0">
              <a:buNone/>
            </a:pPr>
            <a:r>
              <a:rPr lang="en-US" sz="1200" dirty="0">
                <a:solidFill>
                  <a:srgbClr val="4A5B6E"/>
                </a:solidFill>
              </a:rPr>
              <a:t>règle, alertes, audit</a:t>
            </a:r>
            <a:endParaRPr lang="en-US" sz="1200" dirty="0"/>
          </a:p>
          <a:p>
            <a:pPr algn="ctr" indent="0" marL="0">
              <a:buNone/>
            </a:pPr>
            <a:r>
              <a:rPr lang="en-US" sz="1200" dirty="0">
                <a:solidFill>
                  <a:srgbClr val="4A5B6E"/>
                </a:solidFill>
              </a:rPr>
              <a:t>AES-256, FHIR</a:t>
            </a:r>
            <a:endParaRPr lang="en-US" sz="1200" dirty="0"/>
          </a:p>
        </p:txBody>
      </p:sp>
      <p:sp>
        <p:nvSpPr>
          <p:cNvPr id="23" name="Shape 17"/>
          <p:cNvSpPr/>
          <p:nvPr/>
        </p:nvSpPr>
        <p:spPr>
          <a:xfrm>
            <a:off x="8860536" y="1938528"/>
            <a:ext cx="685800" cy="0"/>
          </a:xfrm>
          <a:prstGeom prst="line">
            <a:avLst/>
          </a:prstGeom>
          <a:noFill/>
          <a:ln w="25400">
            <a:solidFill>
              <a:srgbClr val="8DBADB"/>
            </a:solidFill>
            <a:prstDash val="solid"/>
            <a:tailEnd type="triangle"/>
          </a:ln>
        </p:spPr>
      </p:sp>
      <p:sp>
        <p:nvSpPr>
          <p:cNvPr id="24" name="Shape 18"/>
          <p:cNvSpPr/>
          <p:nvPr/>
        </p:nvSpPr>
        <p:spPr>
          <a:xfrm>
            <a:off x="10122408" y="1508760"/>
            <a:ext cx="868680" cy="868680"/>
          </a:xfrm>
          <a:prstGeom prst="ellipse">
            <a:avLst/>
          </a:prstGeom>
          <a:solidFill>
            <a:srgbClr val="E4EFF8"/>
          </a:solidFill>
          <a:ln w="12700">
            <a:solidFill>
              <a:srgbClr val="E4EFF8"/>
            </a:solidFill>
            <a:prstDash val="solid"/>
          </a:ln>
        </p:spPr>
      </p:sp>
      <p:pic>
        <p:nvPicPr>
          <p:cNvPr id="25" name="Image 4" descr="preencoded.png">    </p:cNvPr>
          <p:cNvPicPr>
            <a:picLocks noChangeAspect="1"/>
          </p:cNvPicPr>
          <p:nvPr/>
        </p:nvPicPr>
        <p:blipFill>
          <a:blip r:embed="rId5"/>
          <a:stretch>
            <a:fillRect/>
          </a:stretch>
        </p:blipFill>
        <p:spPr>
          <a:xfrm>
            <a:off x="10313518" y="1699870"/>
            <a:ext cx="486461" cy="486461"/>
          </a:xfrm>
          <a:prstGeom prst="rect">
            <a:avLst/>
          </a:prstGeom>
        </p:spPr>
      </p:pic>
      <p:sp>
        <p:nvSpPr>
          <p:cNvPr id="26" name="Text 19"/>
          <p:cNvSpPr txBox="1"/>
          <p:nvPr/>
        </p:nvSpPr>
        <p:spPr>
          <a:xfrm>
            <a:off x="9619488" y="2468880"/>
            <a:ext cx="1874520" cy="365760"/>
          </a:xfrm>
          <a:prstGeom prst="rect">
            <a:avLst/>
          </a:prstGeom>
          <a:noFill/>
          <a:ln/>
        </p:spPr>
        <p:txBody>
          <a:bodyPr wrap="square" lIns="0" tIns="0" rIns="0" bIns="0" rtlCol="0" anchor="ctr"/>
          <a:lstStyle/>
          <a:p>
            <a:pPr algn="ctr" indent="0" marL="0">
              <a:buNone/>
            </a:pPr>
            <a:r>
              <a:rPr lang="en-US" sz="1600" b="1" dirty="0">
                <a:solidFill>
                  <a:srgbClr val="102D4B"/>
                </a:solidFill>
              </a:rPr>
              <a:t>App + tableau</a:t>
            </a:r>
            <a:endParaRPr lang="en-US" sz="1600" dirty="0"/>
          </a:p>
        </p:txBody>
      </p:sp>
      <p:sp>
        <p:nvSpPr>
          <p:cNvPr id="27" name="Text 20"/>
          <p:cNvSpPr txBox="1"/>
          <p:nvPr/>
        </p:nvSpPr>
        <p:spPr>
          <a:xfrm>
            <a:off x="9619488" y="2834640"/>
            <a:ext cx="1874520" cy="640080"/>
          </a:xfrm>
          <a:prstGeom prst="rect">
            <a:avLst/>
          </a:prstGeom>
          <a:noFill/>
          <a:ln/>
        </p:spPr>
        <p:txBody>
          <a:bodyPr wrap="square" lIns="0" tIns="0" rIns="0" bIns="0" rtlCol="0" anchor="t"/>
          <a:lstStyle/>
          <a:p>
            <a:pPr algn="ctr" indent="0" marL="0">
              <a:buNone/>
            </a:pPr>
            <a:r>
              <a:rPr lang="en-US" sz="1200" dirty="0">
                <a:solidFill>
                  <a:srgbClr val="4A5B6E"/>
                </a:solidFill>
              </a:rPr>
              <a:t>hors ligne, 3 langues</a:t>
            </a:r>
            <a:endParaRPr lang="en-US" sz="1200" dirty="0"/>
          </a:p>
          <a:p>
            <a:pPr algn="ctr" indent="0" marL="0">
              <a:buNone/>
            </a:pPr>
            <a:r>
              <a:rPr lang="en-US" sz="1200" dirty="0">
                <a:solidFill>
                  <a:srgbClr val="4A5B6E"/>
                </a:solidFill>
              </a:rPr>
              <a:t>décision humaine</a:t>
            </a:r>
            <a:endParaRPr lang="en-US" sz="1200" dirty="0"/>
          </a:p>
        </p:txBody>
      </p:sp>
      <p:sp>
        <p:nvSpPr>
          <p:cNvPr id="28" name="Shape 21"/>
          <p:cNvSpPr/>
          <p:nvPr/>
        </p:nvSpPr>
        <p:spPr>
          <a:xfrm>
            <a:off x="548640" y="3749040"/>
            <a:ext cx="5440680" cy="1097280"/>
          </a:xfrm>
          <a:prstGeom prst="roundRect">
            <a:avLst>
              <a:gd name="adj" fmla="val 10000"/>
            </a:avLst>
          </a:prstGeom>
          <a:solidFill>
            <a:srgbClr val="F2F7FC"/>
          </a:solidFill>
          <a:ln w="12700">
            <a:solidFill>
              <a:srgbClr val="F2F7FC"/>
            </a:solidFill>
            <a:prstDash val="solid"/>
          </a:ln>
        </p:spPr>
      </p:sp>
      <p:sp>
        <p:nvSpPr>
          <p:cNvPr id="29" name="Text 22"/>
          <p:cNvSpPr txBox="1"/>
          <p:nvPr/>
        </p:nvSpPr>
        <p:spPr>
          <a:xfrm>
            <a:off x="777240" y="3886200"/>
            <a:ext cx="5029200" cy="365760"/>
          </a:xfrm>
          <a:prstGeom prst="rect">
            <a:avLst/>
          </a:prstGeom>
          <a:noFill/>
          <a:ln/>
        </p:spPr>
        <p:txBody>
          <a:bodyPr wrap="square" lIns="0" tIns="0" rIns="0" bIns="0" rtlCol="0" anchor="ctr"/>
          <a:lstStyle/>
          <a:p>
            <a:pPr indent="0" marL="0">
              <a:buNone/>
            </a:pPr>
            <a:r>
              <a:rPr lang="en-US" sz="1600" b="1" dirty="0">
                <a:solidFill>
                  <a:srgbClr val="102D4B"/>
                </a:solidFill>
              </a:rPr>
              <a:t>Règle publiée, pas de boîte noire</a:t>
            </a:r>
            <a:endParaRPr lang="en-US" sz="1600" dirty="0"/>
          </a:p>
        </p:txBody>
      </p:sp>
      <p:sp>
        <p:nvSpPr>
          <p:cNvPr id="30" name="Text 23"/>
          <p:cNvSpPr txBox="1"/>
          <p:nvPr/>
        </p:nvSpPr>
        <p:spPr>
          <a:xfrm>
            <a:off x="777240" y="4251960"/>
            <a:ext cx="5029200" cy="502920"/>
          </a:xfrm>
          <a:prstGeom prst="rect">
            <a:avLst/>
          </a:prstGeom>
          <a:noFill/>
          <a:ln/>
        </p:spPr>
        <p:txBody>
          <a:bodyPr wrap="square" lIns="0" tIns="0" rIns="0" bIns="0" rtlCol="0" anchor="t"/>
          <a:lstStyle/>
          <a:p>
            <a:pPr indent="0" marL="0">
              <a:buNone/>
            </a:pPr>
            <a:r>
              <a:rPr lang="en-US" sz="1300" dirty="0">
                <a:solidFill>
                  <a:srgbClr val="4A5B6E"/>
                </a:solidFill>
              </a:rPr>
              <a:t>Écart ≥ 2,2 °C, 2 jours, même site · mêmes 12 vecteurs de test en Python et en Dart</a:t>
            </a:r>
            <a:endParaRPr lang="en-US" sz="1300" dirty="0"/>
          </a:p>
        </p:txBody>
      </p:sp>
      <p:sp>
        <p:nvSpPr>
          <p:cNvPr id="31" name="Shape 24"/>
          <p:cNvSpPr/>
          <p:nvPr/>
        </p:nvSpPr>
        <p:spPr>
          <a:xfrm>
            <a:off x="6172200" y="3749040"/>
            <a:ext cx="5440680" cy="1097280"/>
          </a:xfrm>
          <a:prstGeom prst="roundRect">
            <a:avLst>
              <a:gd name="adj" fmla="val 10000"/>
            </a:avLst>
          </a:prstGeom>
          <a:solidFill>
            <a:srgbClr val="F2F7FC"/>
          </a:solidFill>
          <a:ln w="12700">
            <a:solidFill>
              <a:srgbClr val="F2F7FC"/>
            </a:solidFill>
            <a:prstDash val="solid"/>
          </a:ln>
        </p:spPr>
      </p:sp>
      <p:sp>
        <p:nvSpPr>
          <p:cNvPr id="32" name="Text 25"/>
          <p:cNvSpPr txBox="1"/>
          <p:nvPr/>
        </p:nvSpPr>
        <p:spPr>
          <a:xfrm>
            <a:off x="6400800" y="3886200"/>
            <a:ext cx="5029200" cy="365760"/>
          </a:xfrm>
          <a:prstGeom prst="rect">
            <a:avLst/>
          </a:prstGeom>
          <a:noFill/>
          <a:ln/>
        </p:spPr>
        <p:txBody>
          <a:bodyPr wrap="square" lIns="0" tIns="0" rIns="0" bIns="0" rtlCol="0" anchor="ctr"/>
          <a:lstStyle/>
          <a:p>
            <a:pPr indent="0" marL="0">
              <a:buNone/>
            </a:pPr>
            <a:r>
              <a:rPr lang="en-US" sz="1600" b="1" dirty="0">
                <a:solidFill>
                  <a:srgbClr val="102D4B"/>
                </a:solidFill>
              </a:rPr>
              <a:t>Indice de confiance mesurable</a:t>
            </a:r>
            <a:endParaRPr lang="en-US" sz="1600" dirty="0"/>
          </a:p>
        </p:txBody>
      </p:sp>
      <p:sp>
        <p:nvSpPr>
          <p:cNvPr id="33" name="Text 26"/>
          <p:cNvSpPr txBox="1"/>
          <p:nvPr/>
        </p:nvSpPr>
        <p:spPr>
          <a:xfrm>
            <a:off x="6400800" y="4251960"/>
            <a:ext cx="5029200" cy="502920"/>
          </a:xfrm>
          <a:prstGeom prst="rect">
            <a:avLst/>
          </a:prstGeom>
          <a:noFill/>
          <a:ln/>
        </p:spPr>
        <p:txBody>
          <a:bodyPr wrap="square" lIns="0" tIns="0" rIns="0" bIns="0" rtlCol="0" anchor="t"/>
          <a:lstStyle/>
          <a:p>
            <a:pPr indent="0" marL="0">
              <a:buNone/>
            </a:pPr>
            <a:r>
              <a:rPr lang="en-US" sz="1300" dirty="0">
                <a:solidFill>
                  <a:srgbClr val="4A5B6E"/>
                </a:solidFill>
              </a:rPr>
              <a:t>Échantillons × stabilité × distance au seuil, affiché avec les paramètres déclencheurs</a:t>
            </a:r>
            <a:endParaRPr lang="en-US" sz="1300" dirty="0"/>
          </a:p>
        </p:txBody>
      </p:sp>
      <p:sp>
        <p:nvSpPr>
          <p:cNvPr id="34" name="Shape 27"/>
          <p:cNvSpPr/>
          <p:nvPr/>
        </p:nvSpPr>
        <p:spPr>
          <a:xfrm>
            <a:off x="548640" y="4983480"/>
            <a:ext cx="5440680" cy="1097280"/>
          </a:xfrm>
          <a:prstGeom prst="roundRect">
            <a:avLst>
              <a:gd name="adj" fmla="val 10000"/>
            </a:avLst>
          </a:prstGeom>
          <a:solidFill>
            <a:srgbClr val="F2F7FC"/>
          </a:solidFill>
          <a:ln w="12700">
            <a:solidFill>
              <a:srgbClr val="F2F7FC"/>
            </a:solidFill>
            <a:prstDash val="solid"/>
          </a:ln>
        </p:spPr>
      </p:sp>
      <p:sp>
        <p:nvSpPr>
          <p:cNvPr id="35" name="Text 28"/>
          <p:cNvSpPr txBox="1"/>
          <p:nvPr/>
        </p:nvSpPr>
        <p:spPr>
          <a:xfrm>
            <a:off x="777240" y="5120640"/>
            <a:ext cx="5029200" cy="365760"/>
          </a:xfrm>
          <a:prstGeom prst="rect">
            <a:avLst/>
          </a:prstGeom>
          <a:noFill/>
          <a:ln/>
        </p:spPr>
        <p:txBody>
          <a:bodyPr wrap="square" lIns="0" tIns="0" rIns="0" bIns="0" rtlCol="0" anchor="ctr"/>
          <a:lstStyle/>
          <a:p>
            <a:pPr indent="0" marL="0">
              <a:buNone/>
            </a:pPr>
            <a:r>
              <a:rPr lang="en-US" sz="1600" b="1" dirty="0">
                <a:solidFill>
                  <a:srgbClr val="102D4B"/>
                </a:solidFill>
              </a:rPr>
              <a:t>IA encadrée</a:t>
            </a:r>
            <a:endParaRPr lang="en-US" sz="1600" dirty="0"/>
          </a:p>
        </p:txBody>
      </p:sp>
      <p:sp>
        <p:nvSpPr>
          <p:cNvPr id="36" name="Text 29"/>
          <p:cNvSpPr txBox="1"/>
          <p:nvPr/>
        </p:nvSpPr>
        <p:spPr>
          <a:xfrm>
            <a:off x="777240" y="5486400"/>
            <a:ext cx="5029200" cy="502920"/>
          </a:xfrm>
          <a:prstGeom prst="rect">
            <a:avLst/>
          </a:prstGeom>
          <a:noFill/>
          <a:ln/>
        </p:spPr>
        <p:txBody>
          <a:bodyPr wrap="square" lIns="0" tIns="0" rIns="0" bIns="0" rtlCol="0" anchor="t"/>
          <a:lstStyle/>
          <a:p>
            <a:pPr indent="0" marL="0">
              <a:buNone/>
            </a:pPr>
            <a:r>
              <a:rPr lang="en-US" sz="1300" dirty="0">
                <a:solidFill>
                  <a:srgbClr val="4A5B6E"/>
                </a:solidFill>
              </a:rPr>
              <a:t>Gemini côté serveur seulement · règles d'urgence avant l'IA · filtre de sortie · repli vérifié</a:t>
            </a:r>
            <a:endParaRPr lang="en-US" sz="1300" dirty="0"/>
          </a:p>
        </p:txBody>
      </p:sp>
      <p:sp>
        <p:nvSpPr>
          <p:cNvPr id="37" name="Shape 30"/>
          <p:cNvSpPr/>
          <p:nvPr/>
        </p:nvSpPr>
        <p:spPr>
          <a:xfrm>
            <a:off x="6172200" y="4983480"/>
            <a:ext cx="5440680" cy="1097280"/>
          </a:xfrm>
          <a:prstGeom prst="roundRect">
            <a:avLst>
              <a:gd name="adj" fmla="val 10000"/>
            </a:avLst>
          </a:prstGeom>
          <a:solidFill>
            <a:srgbClr val="F2F7FC"/>
          </a:solidFill>
          <a:ln w="12700">
            <a:solidFill>
              <a:srgbClr val="F2F7FC"/>
            </a:solidFill>
            <a:prstDash val="solid"/>
          </a:ln>
        </p:spPr>
      </p:sp>
      <p:sp>
        <p:nvSpPr>
          <p:cNvPr id="38" name="Text 31"/>
          <p:cNvSpPr txBox="1"/>
          <p:nvPr/>
        </p:nvSpPr>
        <p:spPr>
          <a:xfrm>
            <a:off x="6400800" y="5120640"/>
            <a:ext cx="5029200" cy="365760"/>
          </a:xfrm>
          <a:prstGeom prst="rect">
            <a:avLst/>
          </a:prstGeom>
          <a:noFill/>
          <a:ln/>
        </p:spPr>
        <p:txBody>
          <a:bodyPr wrap="square" lIns="0" tIns="0" rIns="0" bIns="0" rtlCol="0" anchor="ctr"/>
          <a:lstStyle/>
          <a:p>
            <a:pPr indent="0" marL="0">
              <a:buNone/>
            </a:pPr>
            <a:r>
              <a:rPr lang="en-US" sz="1600" b="1" dirty="0">
                <a:solidFill>
                  <a:srgbClr val="102D4B"/>
                </a:solidFill>
              </a:rPr>
              <a:t>Confidentialité dès la conception</a:t>
            </a:r>
            <a:endParaRPr lang="en-US" sz="1600" dirty="0"/>
          </a:p>
        </p:txBody>
      </p:sp>
      <p:sp>
        <p:nvSpPr>
          <p:cNvPr id="39" name="Text 32"/>
          <p:cNvSpPr txBox="1"/>
          <p:nvPr/>
        </p:nvSpPr>
        <p:spPr>
          <a:xfrm>
            <a:off x="6400800" y="5486400"/>
            <a:ext cx="5029200" cy="502920"/>
          </a:xfrm>
          <a:prstGeom prst="rect">
            <a:avLst/>
          </a:prstGeom>
          <a:noFill/>
          <a:ln/>
        </p:spPr>
        <p:txBody>
          <a:bodyPr wrap="square" lIns="0" tIns="0" rIns="0" bIns="0" rtlCol="0" anchor="t"/>
          <a:lstStyle/>
          <a:p>
            <a:pPr indent="0" marL="0">
              <a:buNone/>
            </a:pPr>
            <a:r>
              <a:rPr lang="en-US" sz="1300" dirty="0">
                <a:solidFill>
                  <a:srgbClr val="4A5B6E"/>
                </a:solidFill>
              </a:rPr>
              <a:t>Nom sur le téléphone seulement · pseudonyme sur le hub · AES-256 · audit chaîné</a:t>
            </a:r>
            <a:endParaRPr lang="en-US" sz="13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1F4C78"/>
                </a:solidFill>
              </a:rPr>
              <a:t>EFFICACITÉ ET VALIDATION</a:t>
            </a:r>
            <a:endParaRPr lang="en-US" sz="1100" dirty="0"/>
          </a:p>
        </p:txBody>
      </p:sp>
      <p:sp>
        <p:nvSpPr>
          <p:cNvPr id="3" name="Text 0"/>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rgbClr val="102D4B"/>
                </a:solidFill>
              </a:rPr>
              <a:t>Ce qui est prouvé, ce qui reste à prouver</a:t>
            </a:r>
            <a:endParaRPr lang="en-US" sz="3400" dirty="0"/>
          </a:p>
        </p:txBody>
      </p:sp>
      <p:sp>
        <p:nvSpPr>
          <p:cNvPr id="4" name="Shape 2"/>
          <p:cNvSpPr/>
          <p:nvPr/>
        </p:nvSpPr>
        <p:spPr>
          <a:xfrm>
            <a:off x="548640" y="1463040"/>
            <a:ext cx="5394960" cy="4526280"/>
          </a:xfrm>
          <a:prstGeom prst="roundRect">
            <a:avLst>
              <a:gd name="adj" fmla="val 2424"/>
            </a:avLst>
          </a:prstGeom>
          <a:solidFill>
            <a:srgbClr val="E4F3EA"/>
          </a:solidFill>
          <a:ln w="12700">
            <a:solidFill>
              <a:srgbClr val="E4F3EA"/>
            </a:solidFill>
            <a:prstDash val="solid"/>
          </a:ln>
        </p:spPr>
      </p:sp>
      <p:sp>
        <p:nvSpPr>
          <p:cNvPr id="5" name="Shape 3"/>
          <p:cNvSpPr/>
          <p:nvPr/>
        </p:nvSpPr>
        <p:spPr>
          <a:xfrm>
            <a:off x="822960" y="1691640"/>
            <a:ext cx="640080" cy="64008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963778" y="1832458"/>
            <a:ext cx="358445" cy="358445"/>
          </a:xfrm>
          <a:prstGeom prst="rect">
            <a:avLst/>
          </a:prstGeom>
        </p:spPr>
      </p:pic>
      <p:sp>
        <p:nvSpPr>
          <p:cNvPr id="7" name="Text 4"/>
          <p:cNvSpPr txBox="1"/>
          <p:nvPr/>
        </p:nvSpPr>
        <p:spPr>
          <a:xfrm>
            <a:off x="1600200" y="1783080"/>
            <a:ext cx="4114800" cy="457200"/>
          </a:xfrm>
          <a:prstGeom prst="rect">
            <a:avLst/>
          </a:prstGeom>
          <a:noFill/>
          <a:ln/>
        </p:spPr>
        <p:txBody>
          <a:bodyPr wrap="square" lIns="0" tIns="0" rIns="0" bIns="0" rtlCol="0" anchor="ctr"/>
          <a:lstStyle/>
          <a:p>
            <a:pPr indent="0" marL="0">
              <a:buNone/>
            </a:pPr>
            <a:r>
              <a:rPr lang="en-US" sz="1800" b="1" dirty="0">
                <a:solidFill>
                  <a:srgbClr val="1E7A4F"/>
                </a:solidFill>
              </a:rPr>
              <a:t>Vérifié aujourd'hui (prototype)</a:t>
            </a:r>
            <a:endParaRPr lang="en-US" sz="1800" dirty="0"/>
          </a:p>
        </p:txBody>
      </p:sp>
      <p:sp>
        <p:nvSpPr>
          <p:cNvPr id="8" name="Text 5"/>
          <p:cNvSpPr txBox="1"/>
          <p:nvPr/>
        </p:nvSpPr>
        <p:spPr>
          <a:xfrm>
            <a:off x="822960" y="2514600"/>
            <a:ext cx="4846320" cy="3291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02D4B"/>
                </a:solidFill>
              </a:rPr>
              <a:t>51 tests automatisés réussis (règle, sécurité, API, MQTT de bout en bout)</a:t>
            </a:r>
            <a:endParaRPr lang="en-US" sz="1500" dirty="0"/>
          </a:p>
          <a:p>
            <a:pPr marL="342900" indent="-342900">
              <a:spcAft>
                <a:spcPts val="800"/>
              </a:spcAft>
              <a:buSzPct val="100000"/>
              <a:buChar char="•"/>
            </a:pPr>
            <a:r>
              <a:rPr lang="en-US" sz="1500" dirty="0">
                <a:solidFill>
                  <a:srgbClr val="102D4B"/>
                </a:solidFill>
              </a:rPr>
              <a:t>Trames du firmware vérifiées octet par octet par le pont (CRC-8)</a:t>
            </a:r>
            <a:endParaRPr lang="en-US" sz="1500" dirty="0"/>
          </a:p>
          <a:p>
            <a:pPr marL="342900" indent="-342900">
              <a:spcAft>
                <a:spcPts val="800"/>
              </a:spcAft>
              <a:buSzPct val="100000"/>
              <a:buChar char="•"/>
            </a:pPr>
            <a:r>
              <a:rPr lang="en-US" sz="1500" dirty="0">
                <a:solidFill>
                  <a:srgbClr val="102D4B"/>
                </a:solidFill>
              </a:rPr>
              <a:t>Défaut capteur détecté, jamais estimé ; données périmées signalées après 15 s</a:t>
            </a:r>
            <a:endParaRPr lang="en-US" sz="1500" dirty="0"/>
          </a:p>
          <a:p>
            <a:pPr marL="342900" indent="-342900">
              <a:spcAft>
                <a:spcPts val="800"/>
              </a:spcAft>
              <a:buSzPct val="100000"/>
              <a:buChar char="•"/>
            </a:pPr>
            <a:r>
              <a:rPr lang="en-US" sz="1500" dirty="0">
                <a:solidFill>
                  <a:srgbClr val="102D4B"/>
                </a:solidFill>
              </a:rPr>
              <a:t>HTTPS TLS 1.3 testé ; altération du journal d'audit détectée</a:t>
            </a:r>
            <a:endParaRPr lang="en-US" sz="1500" dirty="0"/>
          </a:p>
        </p:txBody>
      </p:sp>
      <p:sp>
        <p:nvSpPr>
          <p:cNvPr id="9" name="Shape 6"/>
          <p:cNvSpPr/>
          <p:nvPr/>
        </p:nvSpPr>
        <p:spPr>
          <a:xfrm>
            <a:off x="6263640" y="1463040"/>
            <a:ext cx="5394960" cy="4526280"/>
          </a:xfrm>
          <a:prstGeom prst="roundRect">
            <a:avLst>
              <a:gd name="adj" fmla="val 2424"/>
            </a:avLst>
          </a:prstGeom>
          <a:solidFill>
            <a:srgbClr val="FFF2DA"/>
          </a:solidFill>
          <a:ln w="12700">
            <a:solidFill>
              <a:srgbClr val="FFF2DA"/>
            </a:solidFill>
            <a:prstDash val="solid"/>
          </a:ln>
        </p:spPr>
      </p:sp>
      <p:sp>
        <p:nvSpPr>
          <p:cNvPr id="10" name="Shape 7"/>
          <p:cNvSpPr/>
          <p:nvPr/>
        </p:nvSpPr>
        <p:spPr>
          <a:xfrm>
            <a:off x="6537960" y="1691640"/>
            <a:ext cx="640080" cy="64008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6678778" y="1832458"/>
            <a:ext cx="358445" cy="358445"/>
          </a:xfrm>
          <a:prstGeom prst="rect">
            <a:avLst/>
          </a:prstGeom>
        </p:spPr>
      </p:pic>
      <p:sp>
        <p:nvSpPr>
          <p:cNvPr id="12" name="Text 8"/>
          <p:cNvSpPr txBox="1"/>
          <p:nvPr/>
        </p:nvSpPr>
        <p:spPr>
          <a:xfrm>
            <a:off x="7315200" y="1783080"/>
            <a:ext cx="4206240" cy="457200"/>
          </a:xfrm>
          <a:prstGeom prst="rect">
            <a:avLst/>
          </a:prstGeom>
          <a:noFill/>
          <a:ln/>
        </p:spPr>
        <p:txBody>
          <a:bodyPr wrap="square" lIns="0" tIns="0" rIns="0" bIns="0" rtlCol="0" anchor="ctr"/>
          <a:lstStyle/>
          <a:p>
            <a:pPr indent="0" marL="0">
              <a:buNone/>
            </a:pPr>
            <a:r>
              <a:rPr lang="en-US" sz="1800" b="1" dirty="0">
                <a:solidFill>
                  <a:srgbClr val="8A5300"/>
                </a:solidFill>
              </a:rPr>
              <a:t>À mesurer au pilote (hypothèses)</a:t>
            </a:r>
            <a:endParaRPr lang="en-US" sz="1800" dirty="0"/>
          </a:p>
        </p:txBody>
      </p:sp>
      <p:sp>
        <p:nvSpPr>
          <p:cNvPr id="13" name="Text 9"/>
          <p:cNvSpPr txBox="1"/>
          <p:nvPr/>
        </p:nvSpPr>
        <p:spPr>
          <a:xfrm>
            <a:off x="6537960" y="2514600"/>
            <a:ext cx="4846320" cy="3291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02D4B"/>
                </a:solidFill>
              </a:rPr>
              <a:t>Adhésion : ≥ 80 % des jours avec un scan</a:t>
            </a:r>
            <a:endParaRPr lang="en-US" sz="1500" dirty="0"/>
          </a:p>
          <a:p>
            <a:pPr marL="342900" indent="-342900">
              <a:spcAft>
                <a:spcPts val="800"/>
              </a:spcAft>
              <a:buSzPct val="100000"/>
              <a:buChar char="•"/>
            </a:pPr>
            <a:r>
              <a:rPr lang="en-US" sz="1500" dirty="0">
                <a:solidFill>
                  <a:srgbClr val="102D4B"/>
                </a:solidFill>
              </a:rPr>
              <a:t>Revue des alertes : délai médian &lt; 24 h</a:t>
            </a:r>
            <a:endParaRPr lang="en-US" sz="1500" dirty="0"/>
          </a:p>
          <a:p>
            <a:pPr marL="342900" indent="-342900">
              <a:spcAft>
                <a:spcPts val="800"/>
              </a:spcAft>
              <a:buSzPct val="100000"/>
              <a:buChar char="•"/>
            </a:pPr>
            <a:r>
              <a:rPr lang="en-US" sz="1500" dirty="0">
                <a:solidFill>
                  <a:srgbClr val="102D4B"/>
                </a:solidFill>
              </a:rPr>
              <a:t>Précision des alertes (confirmées / total)</a:t>
            </a:r>
            <a:endParaRPr lang="en-US" sz="1500" dirty="0"/>
          </a:p>
          <a:p>
            <a:pPr marL="342900" indent="-342900">
              <a:spcAft>
                <a:spcPts val="800"/>
              </a:spcAft>
              <a:buSzPct val="100000"/>
              <a:buChar char="•"/>
            </a:pPr>
            <a:r>
              <a:rPr lang="en-US" sz="1500" dirty="0">
                <a:solidFill>
                  <a:srgbClr val="102D4B"/>
                </a:solidFill>
              </a:rPr>
              <a:t>Ulcères détectés avant ouverture, vs soins habituels</a:t>
            </a:r>
            <a:endParaRPr lang="en-US" sz="1500" dirty="0"/>
          </a:p>
          <a:p>
            <a:pPr marL="342900" indent="-342900">
              <a:spcAft>
                <a:spcPts val="800"/>
              </a:spcAft>
              <a:buSzPct val="100000"/>
              <a:buChar char="•"/>
            </a:pPr>
            <a:r>
              <a:rPr lang="en-US" sz="1500" dirty="0">
                <a:solidFill>
                  <a:srgbClr val="102D4B"/>
                </a:solidFill>
              </a:rPr>
              <a:t>Utilisabilité patient (SUS ≥ 70), temps soignant par alerte</a:t>
            </a:r>
            <a:endParaRPr lang="en-US" sz="1500" dirty="0"/>
          </a:p>
        </p:txBody>
      </p:sp>
      <p:sp>
        <p:nvSpPr>
          <p:cNvPr id="14" name="Text 10"/>
          <p:cNvSpPr txBox="1"/>
          <p:nvPr/>
        </p:nvSpPr>
        <p:spPr>
          <a:xfrm>
            <a:off x="548640" y="6035040"/>
            <a:ext cx="9144000" cy="274320"/>
          </a:xfrm>
          <a:prstGeom prst="rect">
            <a:avLst/>
          </a:prstGeom>
          <a:noFill/>
          <a:ln/>
        </p:spPr>
        <p:txBody>
          <a:bodyPr wrap="square" lIns="0" tIns="0" rIns="0" bIns="0" rtlCol="0" anchor="ctr"/>
          <a:lstStyle/>
          <a:p>
            <a:pPr indent="0" marL="0">
              <a:buNone/>
            </a:pPr>
            <a:r>
              <a:rPr lang="en-US" sz="1200" i="1" dirty="0">
                <a:solidFill>
                  <a:srgbClr val="5F6B78"/>
                </a:solidFill>
              </a:rPr>
              <a:t>Aucun résultat clinique n'est revendiqué : le bénéfice doit être démontré en Tunisie.</a:t>
            </a:r>
            <a:endParaRPr lang="en-US" sz="12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1F4C78"/>
                </a:solidFill>
              </a:rPr>
              <a:t>MARCHÉ ET PASSAGE À L'ÉCHELLE</a:t>
            </a:r>
            <a:endParaRPr lang="en-US" sz="1100" dirty="0"/>
          </a:p>
        </p:txBody>
      </p:sp>
      <p:sp>
        <p:nvSpPr>
          <p:cNvPr id="3" name="Text 0"/>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rgbClr val="102D4B"/>
                </a:solidFill>
              </a:rPr>
              <a:t>Commencer là où le risque est le plus élevé</a:t>
            </a:r>
            <a:endParaRPr lang="en-US" sz="3400" dirty="0"/>
          </a:p>
        </p:txBody>
      </p:sp>
      <p:sp>
        <p:nvSpPr>
          <p:cNvPr id="4" name="Shape 2"/>
          <p:cNvSpPr/>
          <p:nvPr/>
        </p:nvSpPr>
        <p:spPr>
          <a:xfrm>
            <a:off x="548640" y="1508760"/>
            <a:ext cx="10881360" cy="914400"/>
          </a:xfrm>
          <a:prstGeom prst="roundRect">
            <a:avLst>
              <a:gd name="adj" fmla="val 10000"/>
            </a:avLst>
          </a:prstGeom>
          <a:solidFill>
            <a:srgbClr val="102D4B"/>
          </a:solidFill>
          <a:ln w="12700">
            <a:solidFill>
              <a:srgbClr val="102D4B"/>
            </a:solidFill>
            <a:prstDash val="solid"/>
          </a:ln>
        </p:spPr>
      </p:sp>
      <p:sp>
        <p:nvSpPr>
          <p:cNvPr id="5" name="Text 3"/>
          <p:cNvSpPr txBox="1"/>
          <p:nvPr/>
        </p:nvSpPr>
        <p:spPr>
          <a:xfrm>
            <a:off x="822960" y="1508760"/>
            <a:ext cx="10332720" cy="914400"/>
          </a:xfrm>
          <a:prstGeom prst="rect">
            <a:avLst/>
          </a:prstGeom>
          <a:noFill/>
          <a:ln/>
        </p:spPr>
        <p:txBody>
          <a:bodyPr wrap="square" lIns="0" tIns="0" rIns="0" bIns="0" rtlCol="0" anchor="ctr"/>
          <a:lstStyle/>
          <a:p>
            <a:pPr algn="ctr" indent="0" marL="0">
              <a:buNone/>
            </a:pPr>
            <a:r>
              <a:rPr lang="en-US" sz="2000" b="1" dirty="0">
                <a:solidFill>
                  <a:srgbClr val="FFFFFF"/>
                </a:solidFill>
              </a:rPr>
              <a:t>1,39 M   </a:t>
            </a:r>
            <a:pPr algn="ctr" indent="0" marL="0">
              <a:buNone/>
            </a:pPr>
            <a:r>
              <a:rPr lang="en-US" sz="1400" dirty="0">
                <a:solidFill>
                  <a:srgbClr val="FFFFFF"/>
                </a:solidFill>
              </a:rPr>
              <a:t>adultes diabétiques en Tunisie</a:t>
            </a:r>
            <a:endParaRPr lang="en-US" sz="2000" dirty="0"/>
          </a:p>
        </p:txBody>
      </p:sp>
      <p:sp>
        <p:nvSpPr>
          <p:cNvPr id="6" name="Shape 4"/>
          <p:cNvSpPr/>
          <p:nvPr/>
        </p:nvSpPr>
        <p:spPr>
          <a:xfrm>
            <a:off x="1600200" y="2606040"/>
            <a:ext cx="8778240" cy="914400"/>
          </a:xfrm>
          <a:prstGeom prst="roundRect">
            <a:avLst>
              <a:gd name="adj" fmla="val 10000"/>
            </a:avLst>
          </a:prstGeom>
          <a:solidFill>
            <a:srgbClr val="1F4C78"/>
          </a:solidFill>
          <a:ln w="12700">
            <a:solidFill>
              <a:srgbClr val="1F4C78"/>
            </a:solidFill>
            <a:prstDash val="solid"/>
          </a:ln>
        </p:spPr>
      </p:sp>
      <p:sp>
        <p:nvSpPr>
          <p:cNvPr id="7" name="Text 5"/>
          <p:cNvSpPr txBox="1"/>
          <p:nvPr/>
        </p:nvSpPr>
        <p:spPr>
          <a:xfrm>
            <a:off x="1874520" y="2606040"/>
            <a:ext cx="8229600" cy="914400"/>
          </a:xfrm>
          <a:prstGeom prst="rect">
            <a:avLst/>
          </a:prstGeom>
          <a:noFill/>
          <a:ln/>
        </p:spPr>
        <p:txBody>
          <a:bodyPr wrap="square" lIns="0" tIns="0" rIns="0" bIns="0" rtlCol="0" anchor="ctr"/>
          <a:lstStyle/>
          <a:p>
            <a:pPr algn="ctr" indent="0" marL="0">
              <a:buNone/>
            </a:pPr>
            <a:r>
              <a:rPr lang="en-US" sz="2000" b="1" dirty="0">
                <a:solidFill>
                  <a:srgbClr val="FFFFFF"/>
                </a:solidFill>
              </a:rPr>
              <a:t>Risque élevé   </a:t>
            </a:r>
            <a:pPr algn="ctr" indent="0" marL="0">
              <a:buNone/>
            </a:pPr>
            <a:r>
              <a:rPr lang="en-US" sz="1400" dirty="0">
                <a:solidFill>
                  <a:srgbClr val="FFFFFF"/>
                </a:solidFill>
              </a:rPr>
              <a:t>antécédent d'ulcère, neuropathie, amputation (IWGDF 2–3) — part à mesurer</a:t>
            </a:r>
            <a:endParaRPr lang="en-US" sz="2000" dirty="0"/>
          </a:p>
        </p:txBody>
      </p:sp>
      <p:sp>
        <p:nvSpPr>
          <p:cNvPr id="8" name="Shape 6"/>
          <p:cNvSpPr/>
          <p:nvPr/>
        </p:nvSpPr>
        <p:spPr>
          <a:xfrm>
            <a:off x="2651760" y="3703320"/>
            <a:ext cx="6675120" cy="914400"/>
          </a:xfrm>
          <a:prstGeom prst="roundRect">
            <a:avLst>
              <a:gd name="adj" fmla="val 10000"/>
            </a:avLst>
          </a:prstGeom>
          <a:solidFill>
            <a:srgbClr val="3A72A6"/>
          </a:solidFill>
          <a:ln w="12700">
            <a:solidFill>
              <a:srgbClr val="3A72A6"/>
            </a:solidFill>
            <a:prstDash val="solid"/>
          </a:ln>
        </p:spPr>
      </p:sp>
      <p:sp>
        <p:nvSpPr>
          <p:cNvPr id="9" name="Text 7"/>
          <p:cNvSpPr txBox="1"/>
          <p:nvPr/>
        </p:nvSpPr>
        <p:spPr>
          <a:xfrm>
            <a:off x="2926080" y="3703320"/>
            <a:ext cx="6126480" cy="914400"/>
          </a:xfrm>
          <a:prstGeom prst="rect">
            <a:avLst/>
          </a:prstGeom>
          <a:noFill/>
          <a:ln/>
        </p:spPr>
        <p:txBody>
          <a:bodyPr wrap="square" lIns="0" tIns="0" rIns="0" bIns="0" rtlCol="0" anchor="ctr"/>
          <a:lstStyle/>
          <a:p>
            <a:pPr algn="ctr" indent="0" marL="0">
              <a:buNone/>
            </a:pPr>
            <a:r>
              <a:rPr lang="en-US" sz="2000" b="1" dirty="0">
                <a:solidFill>
                  <a:srgbClr val="FFFFFF"/>
                </a:solidFill>
              </a:rPr>
              <a:t>Premiers clients   </a:t>
            </a:r>
            <a:pPr algn="ctr" indent="0" marL="0">
              <a:buNone/>
            </a:pPr>
            <a:r>
              <a:rPr lang="en-US" sz="1400" dirty="0">
                <a:solidFill>
                  <a:srgbClr val="FFFFFF"/>
                </a:solidFill>
              </a:rPr>
              <a:t>cliniques de diabétologie et endocrinologues privés · Tunis, Sfax, Sousse</a:t>
            </a:r>
            <a:endParaRPr lang="en-US" sz="2000" dirty="0"/>
          </a:p>
        </p:txBody>
      </p:sp>
      <p:sp>
        <p:nvSpPr>
          <p:cNvPr id="10" name="Shape 8"/>
          <p:cNvSpPr/>
          <p:nvPr/>
        </p:nvSpPr>
        <p:spPr>
          <a:xfrm>
            <a:off x="3703320" y="4800600"/>
            <a:ext cx="4572000" cy="914400"/>
          </a:xfrm>
          <a:prstGeom prst="roundRect">
            <a:avLst>
              <a:gd name="adj" fmla="val 10000"/>
            </a:avLst>
          </a:prstGeom>
          <a:solidFill>
            <a:srgbClr val="8DBADB"/>
          </a:solidFill>
          <a:ln w="12700">
            <a:solidFill>
              <a:srgbClr val="8DBADB"/>
            </a:solidFill>
            <a:prstDash val="solid"/>
          </a:ln>
        </p:spPr>
      </p:sp>
      <p:sp>
        <p:nvSpPr>
          <p:cNvPr id="11" name="Text 9"/>
          <p:cNvSpPr txBox="1"/>
          <p:nvPr/>
        </p:nvSpPr>
        <p:spPr>
          <a:xfrm>
            <a:off x="3977640" y="4800600"/>
            <a:ext cx="4023360" cy="914400"/>
          </a:xfrm>
          <a:prstGeom prst="rect">
            <a:avLst/>
          </a:prstGeom>
          <a:noFill/>
          <a:ln/>
        </p:spPr>
        <p:txBody>
          <a:bodyPr wrap="square" lIns="0" tIns="0" rIns="0" bIns="0" rtlCol="0" anchor="ctr"/>
          <a:lstStyle/>
          <a:p>
            <a:pPr algn="ctr" indent="0" marL="0">
              <a:buNone/>
            </a:pPr>
            <a:r>
              <a:rPr lang="en-US" sz="2000" b="1" dirty="0">
                <a:solidFill>
                  <a:srgbClr val="102D4B"/>
                </a:solidFill>
              </a:rPr>
              <a:t>Ensuite   </a:t>
            </a:r>
            <a:pPr algn="ctr" indent="0" marL="0">
              <a:buNone/>
            </a:pPr>
            <a:r>
              <a:rPr lang="en-US" sz="1400" dirty="0">
                <a:solidFill>
                  <a:srgbClr val="102D4B"/>
                </a:solidFill>
              </a:rPr>
              <a:t>services publics (pilote) → CNAM → Maghreb</a:t>
            </a:r>
            <a:endParaRPr lang="en-US" sz="2000" dirty="0"/>
          </a:p>
        </p:txBody>
      </p:sp>
      <p:sp>
        <p:nvSpPr>
          <p:cNvPr id="12" name="Text 10"/>
          <p:cNvSpPr txBox="1"/>
          <p:nvPr/>
        </p:nvSpPr>
        <p:spPr>
          <a:xfrm>
            <a:off x="1188720" y="6355080"/>
            <a:ext cx="9265615" cy="320040"/>
          </a:xfrm>
          <a:prstGeom prst="rect">
            <a:avLst/>
          </a:prstGeom>
          <a:noFill/>
          <a:ln/>
        </p:spPr>
        <p:txBody>
          <a:bodyPr wrap="square" lIns="0" tIns="0" rIns="0" bIns="0" rtlCol="0" anchor="ctr"/>
          <a:lstStyle/>
          <a:p>
            <a:pPr indent="0" marL="0">
              <a:buNone/>
            </a:pPr>
            <a:r>
              <a:rPr lang="en-US" sz="1000" dirty="0">
                <a:solidFill>
                  <a:srgbClr val="5F6B78"/>
                </a:solidFill>
              </a:rPr>
              <a:t>IDF Diabetes Atlas 2024 (Tunisie) · segmentation : hypothèse de l'équipe, à quantifier lors du pilote</a:t>
            </a:r>
            <a:endParaRPr lang="en-US" sz="10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1F4C78"/>
                </a:solidFill>
              </a:rPr>
              <a:t>MODÈLE ÉCONOMIQUE (HYPOTHÈSES)</a:t>
            </a:r>
            <a:endParaRPr lang="en-US" sz="1100" dirty="0"/>
          </a:p>
        </p:txBody>
      </p:sp>
      <p:sp>
        <p:nvSpPr>
          <p:cNvPr id="3" name="Text 0"/>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rgbClr val="102D4B"/>
                </a:solidFill>
              </a:rPr>
              <a:t>La clinique paie le suivi, le patient garde l'essentiel gratuit</a:t>
            </a:r>
            <a:endParaRPr lang="en-US" sz="3400" dirty="0"/>
          </a:p>
        </p:txBody>
      </p:sp>
      <p:sp>
        <p:nvSpPr>
          <p:cNvPr id="4" name="Shape 2"/>
          <p:cNvSpPr/>
          <p:nvPr/>
        </p:nvSpPr>
        <p:spPr>
          <a:xfrm>
            <a:off x="548640" y="1463040"/>
            <a:ext cx="5440680" cy="2057400"/>
          </a:xfrm>
          <a:prstGeom prst="roundRect">
            <a:avLst>
              <a:gd name="adj" fmla="val 5333"/>
            </a:avLst>
          </a:prstGeom>
          <a:solidFill>
            <a:srgbClr val="F2F7FC"/>
          </a:solidFill>
          <a:ln w="12700">
            <a:solidFill>
              <a:srgbClr val="F2F7FC"/>
            </a:solidFill>
            <a:prstDash val="solid"/>
          </a:ln>
        </p:spPr>
      </p:sp>
      <p:sp>
        <p:nvSpPr>
          <p:cNvPr id="5" name="Shape 3"/>
          <p:cNvSpPr/>
          <p:nvPr/>
        </p:nvSpPr>
        <p:spPr>
          <a:xfrm>
            <a:off x="822960" y="1737360"/>
            <a:ext cx="685800" cy="685800"/>
          </a:xfrm>
          <a:prstGeom prst="ellipse">
            <a:avLst/>
          </a:prstGeom>
          <a:solidFill>
            <a:srgbClr val="E4EFF8"/>
          </a:solidFill>
          <a:ln w="12700">
            <a:solidFill>
              <a:srgbClr val="E4EFF8"/>
            </a:solidFill>
            <a:prstDash val="solid"/>
          </a:ln>
        </p:spPr>
      </p:sp>
      <p:pic>
        <p:nvPicPr>
          <p:cNvPr id="6" name="Image 0" descr="preencoded.png">    </p:cNvPr>
          <p:cNvPicPr>
            <a:picLocks noChangeAspect="1"/>
          </p:cNvPicPr>
          <p:nvPr/>
        </p:nvPicPr>
        <p:blipFill>
          <a:blip r:embed="rId1"/>
          <a:stretch>
            <a:fillRect/>
          </a:stretch>
        </p:blipFill>
        <p:spPr>
          <a:xfrm>
            <a:off x="973836" y="1888236"/>
            <a:ext cx="384048" cy="384048"/>
          </a:xfrm>
          <a:prstGeom prst="rect">
            <a:avLst/>
          </a:prstGeom>
        </p:spPr>
      </p:pic>
      <p:sp>
        <p:nvSpPr>
          <p:cNvPr id="7" name="Text 4"/>
          <p:cNvSpPr txBox="1"/>
          <p:nvPr/>
        </p:nvSpPr>
        <p:spPr>
          <a:xfrm>
            <a:off x="1691640" y="1737360"/>
            <a:ext cx="4114800" cy="411480"/>
          </a:xfrm>
          <a:prstGeom prst="rect">
            <a:avLst/>
          </a:prstGeom>
          <a:noFill/>
          <a:ln/>
        </p:spPr>
        <p:txBody>
          <a:bodyPr wrap="square" lIns="0" tIns="0" rIns="0" bIns="0" rtlCol="0" anchor="ctr"/>
          <a:lstStyle/>
          <a:p>
            <a:pPr indent="0" marL="0">
              <a:buNone/>
            </a:pPr>
            <a:r>
              <a:rPr lang="en-US" sz="1800" b="1" dirty="0">
                <a:solidFill>
                  <a:srgbClr val="102D4B"/>
                </a:solidFill>
              </a:rPr>
              <a:t>Clinique / endocrinologue</a:t>
            </a:r>
            <a:endParaRPr lang="en-US" sz="1800" dirty="0"/>
          </a:p>
        </p:txBody>
      </p:sp>
      <p:sp>
        <p:nvSpPr>
          <p:cNvPr id="8" name="Text 5"/>
          <p:cNvSpPr txBox="1"/>
          <p:nvPr/>
        </p:nvSpPr>
        <p:spPr>
          <a:xfrm>
            <a:off x="1691640" y="2176272"/>
            <a:ext cx="4114800" cy="777240"/>
          </a:xfrm>
          <a:prstGeom prst="rect">
            <a:avLst/>
          </a:prstGeom>
          <a:noFill/>
          <a:ln/>
        </p:spPr>
        <p:txBody>
          <a:bodyPr wrap="square" lIns="0" tIns="0" rIns="0" bIns="0" rtlCol="0" anchor="t"/>
          <a:lstStyle/>
          <a:p>
            <a:pPr indent="0" marL="0">
              <a:buNone/>
            </a:pPr>
            <a:r>
              <a:rPr lang="en-US" sz="1400" dirty="0">
                <a:solidFill>
                  <a:srgbClr val="4A5B6E"/>
                </a:solidFill>
              </a:rPr>
              <a:t>Abonnement par patient suivi : tapis prêté, app, tableau de bord, support</a:t>
            </a:r>
            <a:endParaRPr lang="en-US" sz="1400" dirty="0"/>
          </a:p>
        </p:txBody>
      </p:sp>
      <p:sp>
        <p:nvSpPr>
          <p:cNvPr id="9" name="Text 6"/>
          <p:cNvSpPr txBox="1"/>
          <p:nvPr/>
        </p:nvSpPr>
        <p:spPr>
          <a:xfrm>
            <a:off x="1691640" y="2971800"/>
            <a:ext cx="4114800" cy="365760"/>
          </a:xfrm>
          <a:prstGeom prst="rect">
            <a:avLst/>
          </a:prstGeom>
          <a:noFill/>
          <a:ln/>
        </p:spPr>
        <p:txBody>
          <a:bodyPr wrap="square" lIns="0" tIns="0" rIns="0" bIns="0" rtlCol="0" anchor="ctr"/>
          <a:lstStyle/>
          <a:p>
            <a:pPr indent="0" marL="0">
              <a:buNone/>
            </a:pPr>
            <a:r>
              <a:rPr lang="en-US" sz="1600" b="1" dirty="0">
                <a:solidFill>
                  <a:srgbClr val="1F4C78"/>
                </a:solidFill>
              </a:rPr>
              <a:t>25–40 TND / patient / mois</a:t>
            </a:r>
            <a:endParaRPr lang="en-US" sz="1600" dirty="0"/>
          </a:p>
        </p:txBody>
      </p:sp>
      <p:sp>
        <p:nvSpPr>
          <p:cNvPr id="10" name="Shape 7"/>
          <p:cNvSpPr/>
          <p:nvPr/>
        </p:nvSpPr>
        <p:spPr>
          <a:xfrm>
            <a:off x="6172200" y="1463040"/>
            <a:ext cx="5440680" cy="2057400"/>
          </a:xfrm>
          <a:prstGeom prst="roundRect">
            <a:avLst>
              <a:gd name="adj" fmla="val 5333"/>
            </a:avLst>
          </a:prstGeom>
          <a:solidFill>
            <a:srgbClr val="F2F7FC"/>
          </a:solidFill>
          <a:ln w="12700">
            <a:solidFill>
              <a:srgbClr val="F2F7FC"/>
            </a:solidFill>
            <a:prstDash val="solid"/>
          </a:ln>
        </p:spPr>
      </p:sp>
      <p:sp>
        <p:nvSpPr>
          <p:cNvPr id="11" name="Shape 8"/>
          <p:cNvSpPr/>
          <p:nvPr/>
        </p:nvSpPr>
        <p:spPr>
          <a:xfrm>
            <a:off x="6446520" y="1737360"/>
            <a:ext cx="685800" cy="685800"/>
          </a:xfrm>
          <a:prstGeom prst="ellipse">
            <a:avLst/>
          </a:prstGeom>
          <a:solidFill>
            <a:srgbClr val="E4EFF8"/>
          </a:solidFill>
          <a:ln w="12700">
            <a:solidFill>
              <a:srgbClr val="E4EFF8"/>
            </a:solidFill>
            <a:prstDash val="solid"/>
          </a:ln>
        </p:spPr>
      </p:sp>
      <p:pic>
        <p:nvPicPr>
          <p:cNvPr id="12" name="Image 1" descr="preencoded.png">    </p:cNvPr>
          <p:cNvPicPr>
            <a:picLocks noChangeAspect="1"/>
          </p:cNvPicPr>
          <p:nvPr/>
        </p:nvPicPr>
        <p:blipFill>
          <a:blip r:embed="rId2"/>
          <a:stretch>
            <a:fillRect/>
          </a:stretch>
        </p:blipFill>
        <p:spPr>
          <a:xfrm>
            <a:off x="6597396" y="1888236"/>
            <a:ext cx="384048" cy="384048"/>
          </a:xfrm>
          <a:prstGeom prst="rect">
            <a:avLst/>
          </a:prstGeom>
        </p:spPr>
      </p:pic>
      <p:sp>
        <p:nvSpPr>
          <p:cNvPr id="13" name="Text 9"/>
          <p:cNvSpPr txBox="1"/>
          <p:nvPr/>
        </p:nvSpPr>
        <p:spPr>
          <a:xfrm>
            <a:off x="7315200" y="1737360"/>
            <a:ext cx="4114800" cy="411480"/>
          </a:xfrm>
          <a:prstGeom prst="rect">
            <a:avLst/>
          </a:prstGeom>
          <a:noFill/>
          <a:ln/>
        </p:spPr>
        <p:txBody>
          <a:bodyPr wrap="square" lIns="0" tIns="0" rIns="0" bIns="0" rtlCol="0" anchor="ctr"/>
          <a:lstStyle/>
          <a:p>
            <a:pPr indent="0" marL="0">
              <a:buNone/>
            </a:pPr>
            <a:r>
              <a:rPr lang="en-US" sz="1800" b="1" dirty="0">
                <a:solidFill>
                  <a:srgbClr val="102D4B"/>
                </a:solidFill>
              </a:rPr>
              <a:t>CNAM, mutuelles (phase 2)</a:t>
            </a:r>
            <a:endParaRPr lang="en-US" sz="1800" dirty="0"/>
          </a:p>
        </p:txBody>
      </p:sp>
      <p:sp>
        <p:nvSpPr>
          <p:cNvPr id="14" name="Text 10"/>
          <p:cNvSpPr txBox="1"/>
          <p:nvPr/>
        </p:nvSpPr>
        <p:spPr>
          <a:xfrm>
            <a:off x="7315200" y="2176272"/>
            <a:ext cx="4114800" cy="777240"/>
          </a:xfrm>
          <a:prstGeom prst="rect">
            <a:avLst/>
          </a:prstGeom>
          <a:noFill/>
          <a:ln/>
        </p:spPr>
        <p:txBody>
          <a:bodyPr wrap="square" lIns="0" tIns="0" rIns="0" bIns="0" rtlCol="0" anchor="t"/>
          <a:lstStyle/>
          <a:p>
            <a:pPr indent="0" marL="0">
              <a:buNone/>
            </a:pPr>
            <a:r>
              <a:rPr lang="en-US" sz="1400" dirty="0">
                <a:solidFill>
                  <a:srgbClr val="4A5B6E"/>
                </a:solidFill>
              </a:rPr>
              <a:t>Forfait de télésurveillance remboursé pour les patients APCI à haut risque, sur preuves du pilote</a:t>
            </a:r>
            <a:endParaRPr lang="en-US" sz="1400" dirty="0"/>
          </a:p>
        </p:txBody>
      </p:sp>
      <p:sp>
        <p:nvSpPr>
          <p:cNvPr id="15" name="Text 11"/>
          <p:cNvSpPr txBox="1"/>
          <p:nvPr/>
        </p:nvSpPr>
        <p:spPr>
          <a:xfrm>
            <a:off x="7315200" y="2971800"/>
            <a:ext cx="4114800" cy="365760"/>
          </a:xfrm>
          <a:prstGeom prst="rect">
            <a:avLst/>
          </a:prstGeom>
          <a:noFill/>
          <a:ln/>
        </p:spPr>
        <p:txBody>
          <a:bodyPr wrap="square" lIns="0" tIns="0" rIns="0" bIns="0" rtlCol="0" anchor="ctr"/>
          <a:lstStyle/>
          <a:p>
            <a:pPr indent="0" marL="0">
              <a:buNone/>
            </a:pPr>
            <a:r>
              <a:rPr lang="en-US" sz="1600" b="1" dirty="0">
                <a:solidFill>
                  <a:srgbClr val="1F4C78"/>
                </a:solidFill>
              </a:rPr>
              <a:t>forfait annuel</a:t>
            </a:r>
            <a:endParaRPr lang="en-US" sz="1600" dirty="0"/>
          </a:p>
        </p:txBody>
      </p:sp>
      <p:sp>
        <p:nvSpPr>
          <p:cNvPr id="16" name="Shape 12"/>
          <p:cNvSpPr/>
          <p:nvPr/>
        </p:nvSpPr>
        <p:spPr>
          <a:xfrm>
            <a:off x="548640" y="3703320"/>
            <a:ext cx="5440680" cy="2057400"/>
          </a:xfrm>
          <a:prstGeom prst="roundRect">
            <a:avLst>
              <a:gd name="adj" fmla="val 5333"/>
            </a:avLst>
          </a:prstGeom>
          <a:solidFill>
            <a:srgbClr val="F2F7FC"/>
          </a:solidFill>
          <a:ln w="12700">
            <a:solidFill>
              <a:srgbClr val="F2F7FC"/>
            </a:solidFill>
            <a:prstDash val="solid"/>
          </a:ln>
        </p:spPr>
      </p:sp>
      <p:sp>
        <p:nvSpPr>
          <p:cNvPr id="17" name="Shape 13"/>
          <p:cNvSpPr/>
          <p:nvPr/>
        </p:nvSpPr>
        <p:spPr>
          <a:xfrm>
            <a:off x="822960" y="3977640"/>
            <a:ext cx="685800" cy="685800"/>
          </a:xfrm>
          <a:prstGeom prst="ellipse">
            <a:avLst/>
          </a:prstGeom>
          <a:solidFill>
            <a:srgbClr val="E4EFF8"/>
          </a:solidFill>
          <a:ln w="12700">
            <a:solidFill>
              <a:srgbClr val="E4EFF8"/>
            </a:solidFill>
            <a:prstDash val="solid"/>
          </a:ln>
        </p:spPr>
      </p:sp>
      <p:pic>
        <p:nvPicPr>
          <p:cNvPr id="18" name="Image 2" descr="preencoded.png">    </p:cNvPr>
          <p:cNvPicPr>
            <a:picLocks noChangeAspect="1"/>
          </p:cNvPicPr>
          <p:nvPr/>
        </p:nvPicPr>
        <p:blipFill>
          <a:blip r:embed="rId3"/>
          <a:stretch>
            <a:fillRect/>
          </a:stretch>
        </p:blipFill>
        <p:spPr>
          <a:xfrm>
            <a:off x="973836" y="4128516"/>
            <a:ext cx="384048" cy="384048"/>
          </a:xfrm>
          <a:prstGeom prst="rect">
            <a:avLst/>
          </a:prstGeom>
        </p:spPr>
      </p:pic>
      <p:sp>
        <p:nvSpPr>
          <p:cNvPr id="19" name="Text 14"/>
          <p:cNvSpPr txBox="1"/>
          <p:nvPr/>
        </p:nvSpPr>
        <p:spPr>
          <a:xfrm>
            <a:off x="1691640" y="3977640"/>
            <a:ext cx="4114800" cy="411480"/>
          </a:xfrm>
          <a:prstGeom prst="rect">
            <a:avLst/>
          </a:prstGeom>
          <a:noFill/>
          <a:ln/>
        </p:spPr>
        <p:txBody>
          <a:bodyPr wrap="square" lIns="0" tIns="0" rIns="0" bIns="0" rtlCol="0" anchor="ctr"/>
          <a:lstStyle/>
          <a:p>
            <a:pPr indent="0" marL="0">
              <a:buNone/>
            </a:pPr>
            <a:r>
              <a:rPr lang="en-US" sz="1800" b="1" dirty="0">
                <a:solidFill>
                  <a:srgbClr val="102D4B"/>
                </a:solidFill>
              </a:rPr>
              <a:t>Patient (option)</a:t>
            </a:r>
            <a:endParaRPr lang="en-US" sz="1800" dirty="0"/>
          </a:p>
        </p:txBody>
      </p:sp>
      <p:sp>
        <p:nvSpPr>
          <p:cNvPr id="20" name="Text 15"/>
          <p:cNvSpPr txBox="1"/>
          <p:nvPr/>
        </p:nvSpPr>
        <p:spPr>
          <a:xfrm>
            <a:off x="1691640" y="4416552"/>
            <a:ext cx="4114800" cy="777240"/>
          </a:xfrm>
          <a:prstGeom prst="rect">
            <a:avLst/>
          </a:prstGeom>
          <a:noFill/>
          <a:ln/>
        </p:spPr>
        <p:txBody>
          <a:bodyPr wrap="square" lIns="0" tIns="0" rIns="0" bIns="0" rtlCol="0" anchor="t"/>
          <a:lstStyle/>
          <a:p>
            <a:pPr indent="0" marL="0">
              <a:buNone/>
            </a:pPr>
            <a:r>
              <a:rPr lang="en-US" sz="1400" dirty="0">
                <a:solidFill>
                  <a:srgbClr val="4A5B6E"/>
                </a:solidFill>
              </a:rPr>
              <a:t>Location du tapis pour l'auto-surveillance</a:t>
            </a:r>
            <a:endParaRPr lang="en-US" sz="1400" dirty="0"/>
          </a:p>
        </p:txBody>
      </p:sp>
      <p:sp>
        <p:nvSpPr>
          <p:cNvPr id="21" name="Text 16"/>
          <p:cNvSpPr txBox="1"/>
          <p:nvPr/>
        </p:nvSpPr>
        <p:spPr>
          <a:xfrm>
            <a:off x="1691640" y="5212080"/>
            <a:ext cx="4114800" cy="365760"/>
          </a:xfrm>
          <a:prstGeom prst="rect">
            <a:avLst/>
          </a:prstGeom>
          <a:noFill/>
          <a:ln/>
        </p:spPr>
        <p:txBody>
          <a:bodyPr wrap="square" lIns="0" tIns="0" rIns="0" bIns="0" rtlCol="0" anchor="ctr"/>
          <a:lstStyle/>
          <a:p>
            <a:pPr indent="0" marL="0">
              <a:buNone/>
            </a:pPr>
            <a:r>
              <a:rPr lang="en-US" sz="1600" b="1" dirty="0">
                <a:solidFill>
                  <a:srgbClr val="1F4C78"/>
                </a:solidFill>
              </a:rPr>
              <a:t>≈ 20 TND / mois</a:t>
            </a:r>
            <a:endParaRPr lang="en-US" sz="1600" dirty="0"/>
          </a:p>
        </p:txBody>
      </p:sp>
      <p:sp>
        <p:nvSpPr>
          <p:cNvPr id="22" name="Shape 17"/>
          <p:cNvSpPr/>
          <p:nvPr/>
        </p:nvSpPr>
        <p:spPr>
          <a:xfrm>
            <a:off x="6172200" y="3703320"/>
            <a:ext cx="5440680" cy="2057400"/>
          </a:xfrm>
          <a:prstGeom prst="roundRect">
            <a:avLst>
              <a:gd name="adj" fmla="val 5333"/>
            </a:avLst>
          </a:prstGeom>
          <a:solidFill>
            <a:srgbClr val="F2F7FC"/>
          </a:solidFill>
          <a:ln w="12700">
            <a:solidFill>
              <a:srgbClr val="F2F7FC"/>
            </a:solidFill>
            <a:prstDash val="solid"/>
          </a:ln>
        </p:spPr>
      </p:sp>
      <p:sp>
        <p:nvSpPr>
          <p:cNvPr id="23" name="Shape 18"/>
          <p:cNvSpPr/>
          <p:nvPr/>
        </p:nvSpPr>
        <p:spPr>
          <a:xfrm>
            <a:off x="6446520" y="3977640"/>
            <a:ext cx="685800" cy="685800"/>
          </a:xfrm>
          <a:prstGeom prst="ellipse">
            <a:avLst/>
          </a:prstGeom>
          <a:solidFill>
            <a:srgbClr val="E4EFF8"/>
          </a:solidFill>
          <a:ln w="12700">
            <a:solidFill>
              <a:srgbClr val="E4EFF8"/>
            </a:solidFill>
            <a:prstDash val="solid"/>
          </a:ln>
        </p:spPr>
      </p:sp>
      <p:pic>
        <p:nvPicPr>
          <p:cNvPr id="24" name="Image 3" descr="preencoded.png">    </p:cNvPr>
          <p:cNvPicPr>
            <a:picLocks noChangeAspect="1"/>
          </p:cNvPicPr>
          <p:nvPr/>
        </p:nvPicPr>
        <p:blipFill>
          <a:blip r:embed="rId4"/>
          <a:stretch>
            <a:fillRect/>
          </a:stretch>
        </p:blipFill>
        <p:spPr>
          <a:xfrm>
            <a:off x="6597396" y="4128516"/>
            <a:ext cx="384048" cy="384048"/>
          </a:xfrm>
          <a:prstGeom prst="rect">
            <a:avLst/>
          </a:prstGeom>
        </p:spPr>
      </p:pic>
      <p:sp>
        <p:nvSpPr>
          <p:cNvPr id="25" name="Text 19"/>
          <p:cNvSpPr txBox="1"/>
          <p:nvPr/>
        </p:nvSpPr>
        <p:spPr>
          <a:xfrm>
            <a:off x="7315200" y="3977640"/>
            <a:ext cx="4114800" cy="411480"/>
          </a:xfrm>
          <a:prstGeom prst="rect">
            <a:avLst/>
          </a:prstGeom>
          <a:noFill/>
          <a:ln/>
        </p:spPr>
        <p:txBody>
          <a:bodyPr wrap="square" lIns="0" tIns="0" rIns="0" bIns="0" rtlCol="0" anchor="ctr"/>
          <a:lstStyle/>
          <a:p>
            <a:pPr indent="0" marL="0">
              <a:buNone/>
            </a:pPr>
            <a:r>
              <a:rPr lang="en-US" sz="1800" b="1" dirty="0">
                <a:solidFill>
                  <a:srgbClr val="102D4B"/>
                </a:solidFill>
              </a:rPr>
              <a:t>Gratuit</a:t>
            </a:r>
            <a:endParaRPr lang="en-US" sz="1800" dirty="0"/>
          </a:p>
        </p:txBody>
      </p:sp>
      <p:sp>
        <p:nvSpPr>
          <p:cNvPr id="26" name="Text 20"/>
          <p:cNvSpPr txBox="1"/>
          <p:nvPr/>
        </p:nvSpPr>
        <p:spPr>
          <a:xfrm>
            <a:off x="7315200" y="4416552"/>
            <a:ext cx="4114800" cy="777240"/>
          </a:xfrm>
          <a:prstGeom prst="rect">
            <a:avLst/>
          </a:prstGeom>
          <a:noFill/>
          <a:ln/>
        </p:spPr>
        <p:txBody>
          <a:bodyPr wrap="square" lIns="0" tIns="0" rIns="0" bIns="0" rtlCol="0" anchor="t"/>
          <a:lstStyle/>
          <a:p>
            <a:pPr indent="0" marL="0">
              <a:buNone/>
            </a:pPr>
            <a:r>
              <a:rPr lang="en-US" sz="1400" dirty="0">
                <a:solidFill>
                  <a:srgbClr val="4A5B6E"/>
                </a:solidFill>
              </a:rPr>
              <a:t>Journal glycémie et médicaments, assistant éducatif en derja</a:t>
            </a:r>
            <a:endParaRPr lang="en-US" sz="1400" dirty="0"/>
          </a:p>
        </p:txBody>
      </p:sp>
      <p:sp>
        <p:nvSpPr>
          <p:cNvPr id="27" name="Text 21"/>
          <p:cNvSpPr txBox="1"/>
          <p:nvPr/>
        </p:nvSpPr>
        <p:spPr>
          <a:xfrm>
            <a:off x="7315200" y="5212080"/>
            <a:ext cx="4114800" cy="365760"/>
          </a:xfrm>
          <a:prstGeom prst="rect">
            <a:avLst/>
          </a:prstGeom>
          <a:noFill/>
          <a:ln/>
        </p:spPr>
        <p:txBody>
          <a:bodyPr wrap="square" lIns="0" tIns="0" rIns="0" bIns="0" rtlCol="0" anchor="ctr"/>
          <a:lstStyle/>
          <a:p>
            <a:pPr indent="0" marL="0">
              <a:buNone/>
            </a:pPr>
            <a:r>
              <a:rPr lang="en-US" sz="1600" b="1" dirty="0">
                <a:solidFill>
                  <a:srgbClr val="1F4C78"/>
                </a:solidFill>
              </a:rPr>
              <a:t>0 TND</a:t>
            </a:r>
            <a:endParaRPr lang="en-US" sz="1600" dirty="0"/>
          </a:p>
        </p:txBody>
      </p:sp>
      <p:sp>
        <p:nvSpPr>
          <p:cNvPr id="28" name="Text 22"/>
          <p:cNvSpPr txBox="1"/>
          <p:nvPr/>
        </p:nvSpPr>
        <p:spPr>
          <a:xfrm>
            <a:off x="548640" y="5943600"/>
            <a:ext cx="10241280" cy="365760"/>
          </a:xfrm>
          <a:prstGeom prst="rect">
            <a:avLst/>
          </a:prstGeom>
          <a:noFill/>
          <a:ln/>
        </p:spPr>
        <p:txBody>
          <a:bodyPr wrap="square" lIns="0" tIns="0" rIns="0" bIns="0" rtlCol="0" anchor="ctr"/>
          <a:lstStyle/>
          <a:p>
            <a:pPr indent="0" marL="0">
              <a:buNone/>
            </a:pPr>
            <a:r>
              <a:rPr lang="en-US" sz="1200" i="1" dirty="0">
                <a:solidFill>
                  <a:srgbClr val="5F6B78"/>
                </a:solidFill>
              </a:rPr>
              <a:t>Pourquoi rester client : moins d'urgences et d'amputations, un suivi structuré entre deux visites, un service différenciant. Tous les prix sont à valider.</a:t>
            </a:r>
            <a:endParaRPr lang="en-US" sz="12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1F4C78"/>
                </a:solidFill>
              </a:rPr>
              <a:t>STRATÉGIE ET VIABILITÉ</a:t>
            </a:r>
            <a:endParaRPr lang="en-US" sz="1100" dirty="0"/>
          </a:p>
        </p:txBody>
      </p:sp>
      <p:sp>
        <p:nvSpPr>
          <p:cNvPr id="3" name="Text 0"/>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rgbClr val="102D4B"/>
                </a:solidFill>
              </a:rPr>
              <a:t>Un pilote, des partenaires, des coûts maîtrisés</a:t>
            </a:r>
            <a:endParaRPr lang="en-US" sz="3400" dirty="0"/>
          </a:p>
        </p:txBody>
      </p:sp>
      <p:sp>
        <p:nvSpPr>
          <p:cNvPr id="4" name="Shape 2"/>
          <p:cNvSpPr/>
          <p:nvPr/>
        </p:nvSpPr>
        <p:spPr>
          <a:xfrm>
            <a:off x="548640" y="1463040"/>
            <a:ext cx="777240" cy="777240"/>
          </a:xfrm>
          <a:prstGeom prst="ellipse">
            <a:avLst/>
          </a:prstGeom>
          <a:solidFill>
            <a:srgbClr val="E4EFF8"/>
          </a:solidFill>
          <a:ln w="12700">
            <a:solidFill>
              <a:srgbClr val="E4EFF8"/>
            </a:solidFill>
            <a:prstDash val="solid"/>
          </a:ln>
        </p:spPr>
      </p:sp>
      <p:pic>
        <p:nvPicPr>
          <p:cNvPr id="5" name="Image 0" descr="preencoded.png">    </p:cNvPr>
          <p:cNvPicPr>
            <a:picLocks noChangeAspect="1"/>
          </p:cNvPicPr>
          <p:nvPr/>
        </p:nvPicPr>
        <p:blipFill>
          <a:blip r:embed="rId1"/>
          <a:stretch>
            <a:fillRect/>
          </a:stretch>
        </p:blipFill>
        <p:spPr>
          <a:xfrm>
            <a:off x="719633" y="1634033"/>
            <a:ext cx="435254" cy="435254"/>
          </a:xfrm>
          <a:prstGeom prst="rect">
            <a:avLst/>
          </a:prstGeom>
        </p:spPr>
      </p:pic>
      <p:sp>
        <p:nvSpPr>
          <p:cNvPr id="6" name="Text 3"/>
          <p:cNvSpPr txBox="1"/>
          <p:nvPr/>
        </p:nvSpPr>
        <p:spPr>
          <a:xfrm>
            <a:off x="1600200" y="1463040"/>
            <a:ext cx="2926080" cy="777240"/>
          </a:xfrm>
          <a:prstGeom prst="rect">
            <a:avLst/>
          </a:prstGeom>
          <a:noFill/>
          <a:ln/>
        </p:spPr>
        <p:txBody>
          <a:bodyPr wrap="square" lIns="0" tIns="0" rIns="0" bIns="0" rtlCol="0" anchor="ctr"/>
          <a:lstStyle/>
          <a:p>
            <a:pPr indent="0" marL="0">
              <a:buNone/>
            </a:pPr>
            <a:r>
              <a:rPr lang="en-US" sz="1700" b="1" dirty="0">
                <a:solidFill>
                  <a:srgbClr val="102D4B"/>
                </a:solidFill>
              </a:rPr>
              <a:t>Partenariats à explorer</a:t>
            </a:r>
            <a:endParaRPr lang="en-US" sz="1700" dirty="0"/>
          </a:p>
        </p:txBody>
      </p:sp>
      <p:sp>
        <p:nvSpPr>
          <p:cNvPr id="7" name="Text 4"/>
          <p:cNvSpPr txBox="1"/>
          <p:nvPr/>
        </p:nvSpPr>
        <p:spPr>
          <a:xfrm>
            <a:off x="4572000" y="1463040"/>
            <a:ext cx="7040880" cy="777240"/>
          </a:xfrm>
          <a:prstGeom prst="rect">
            <a:avLst/>
          </a:prstGeom>
          <a:noFill/>
          <a:ln/>
        </p:spPr>
        <p:txBody>
          <a:bodyPr wrap="square" lIns="0" tIns="0" rIns="0" bIns="0" rtlCol="0" anchor="ctr"/>
          <a:lstStyle/>
          <a:p>
            <a:pPr indent="0" marL="0">
              <a:buNone/>
            </a:pPr>
            <a:r>
              <a:rPr lang="en-US" sz="1400" dirty="0">
                <a:solidFill>
                  <a:srgbClr val="4A5B6E"/>
                </a:solidFill>
              </a:rPr>
              <a:t>Un service d'endocrinologie pour le pilote · pharmacies comme points de remise et de conseil · associations de patients</a:t>
            </a:r>
            <a:endParaRPr lang="en-US" sz="1400" dirty="0"/>
          </a:p>
        </p:txBody>
      </p:sp>
      <p:sp>
        <p:nvSpPr>
          <p:cNvPr id="8" name="Shape 5"/>
          <p:cNvSpPr/>
          <p:nvPr/>
        </p:nvSpPr>
        <p:spPr>
          <a:xfrm>
            <a:off x="548640" y="2606040"/>
            <a:ext cx="777240" cy="777240"/>
          </a:xfrm>
          <a:prstGeom prst="ellipse">
            <a:avLst/>
          </a:prstGeom>
          <a:solidFill>
            <a:srgbClr val="E4EFF8"/>
          </a:solidFill>
          <a:ln w="12700">
            <a:solidFill>
              <a:srgbClr val="E4EFF8"/>
            </a:solidFill>
            <a:prstDash val="solid"/>
          </a:ln>
        </p:spPr>
      </p:sp>
      <p:pic>
        <p:nvPicPr>
          <p:cNvPr id="9" name="Image 1" descr="preencoded.png">    </p:cNvPr>
          <p:cNvPicPr>
            <a:picLocks noChangeAspect="1"/>
          </p:cNvPicPr>
          <p:nvPr/>
        </p:nvPicPr>
        <p:blipFill>
          <a:blip r:embed="rId2"/>
          <a:stretch>
            <a:fillRect/>
          </a:stretch>
        </p:blipFill>
        <p:spPr>
          <a:xfrm>
            <a:off x="719633" y="2777033"/>
            <a:ext cx="435254" cy="435254"/>
          </a:xfrm>
          <a:prstGeom prst="rect">
            <a:avLst/>
          </a:prstGeom>
        </p:spPr>
      </p:pic>
      <p:sp>
        <p:nvSpPr>
          <p:cNvPr id="10" name="Text 6"/>
          <p:cNvSpPr txBox="1"/>
          <p:nvPr/>
        </p:nvSpPr>
        <p:spPr>
          <a:xfrm>
            <a:off x="1600200" y="2606040"/>
            <a:ext cx="2926080" cy="777240"/>
          </a:xfrm>
          <a:prstGeom prst="rect">
            <a:avLst/>
          </a:prstGeom>
          <a:noFill/>
          <a:ln/>
        </p:spPr>
        <p:txBody>
          <a:bodyPr wrap="square" lIns="0" tIns="0" rIns="0" bIns="0" rtlCol="0" anchor="ctr"/>
          <a:lstStyle/>
          <a:p>
            <a:pPr indent="0" marL="0">
              <a:buNone/>
            </a:pPr>
            <a:r>
              <a:rPr lang="en-US" sz="1700" b="1" dirty="0">
                <a:solidFill>
                  <a:srgbClr val="102D4B"/>
                </a:solidFill>
              </a:rPr>
              <a:t>Acquisition</a:t>
            </a:r>
            <a:endParaRPr lang="en-US" sz="1700" dirty="0"/>
          </a:p>
        </p:txBody>
      </p:sp>
      <p:sp>
        <p:nvSpPr>
          <p:cNvPr id="11" name="Text 7"/>
          <p:cNvSpPr txBox="1"/>
          <p:nvPr/>
        </p:nvSpPr>
        <p:spPr>
          <a:xfrm>
            <a:off x="4572000" y="2606040"/>
            <a:ext cx="7040880" cy="777240"/>
          </a:xfrm>
          <a:prstGeom prst="rect">
            <a:avLst/>
          </a:prstGeom>
          <a:noFill/>
          <a:ln/>
        </p:spPr>
        <p:txBody>
          <a:bodyPr wrap="square" lIns="0" tIns="0" rIns="0" bIns="0" rtlCol="0" anchor="ctr"/>
          <a:lstStyle/>
          <a:p>
            <a:pPr indent="0" marL="0">
              <a:buNone/>
            </a:pPr>
            <a:r>
              <a:rPr lang="en-US" sz="1400" dirty="0">
                <a:solidFill>
                  <a:srgbClr val="4A5B6E"/>
                </a:solidFill>
              </a:rPr>
              <a:t>Par les médecins (prescription du suivi) · démonstrations en clinique · bouche-à-oreille familial (WhatsApp)</a:t>
            </a:r>
            <a:endParaRPr lang="en-US" sz="1400" dirty="0"/>
          </a:p>
        </p:txBody>
      </p:sp>
      <p:sp>
        <p:nvSpPr>
          <p:cNvPr id="12" name="Shape 8"/>
          <p:cNvSpPr/>
          <p:nvPr/>
        </p:nvSpPr>
        <p:spPr>
          <a:xfrm>
            <a:off x="548640" y="3749040"/>
            <a:ext cx="777240" cy="777240"/>
          </a:xfrm>
          <a:prstGeom prst="ellipse">
            <a:avLst/>
          </a:prstGeom>
          <a:solidFill>
            <a:srgbClr val="E4EFF8"/>
          </a:solidFill>
          <a:ln w="12700">
            <a:solidFill>
              <a:srgbClr val="E4EFF8"/>
            </a:solidFill>
            <a:prstDash val="solid"/>
          </a:ln>
        </p:spPr>
      </p:sp>
      <p:pic>
        <p:nvPicPr>
          <p:cNvPr id="13" name="Image 2" descr="preencoded.png">    </p:cNvPr>
          <p:cNvPicPr>
            <a:picLocks noChangeAspect="1"/>
          </p:cNvPicPr>
          <p:nvPr/>
        </p:nvPicPr>
        <p:blipFill>
          <a:blip r:embed="rId3"/>
          <a:stretch>
            <a:fillRect/>
          </a:stretch>
        </p:blipFill>
        <p:spPr>
          <a:xfrm>
            <a:off x="719633" y="3920033"/>
            <a:ext cx="435254" cy="435254"/>
          </a:xfrm>
          <a:prstGeom prst="rect">
            <a:avLst/>
          </a:prstGeom>
        </p:spPr>
      </p:pic>
      <p:sp>
        <p:nvSpPr>
          <p:cNvPr id="14" name="Text 9"/>
          <p:cNvSpPr txBox="1"/>
          <p:nvPr/>
        </p:nvSpPr>
        <p:spPr>
          <a:xfrm>
            <a:off x="1600200" y="3749040"/>
            <a:ext cx="2926080" cy="777240"/>
          </a:xfrm>
          <a:prstGeom prst="rect">
            <a:avLst/>
          </a:prstGeom>
          <a:noFill/>
          <a:ln/>
        </p:spPr>
        <p:txBody>
          <a:bodyPr wrap="square" lIns="0" tIns="0" rIns="0" bIns="0" rtlCol="0" anchor="ctr"/>
          <a:lstStyle/>
          <a:p>
            <a:pPr indent="0" marL="0">
              <a:buNone/>
            </a:pPr>
            <a:r>
              <a:rPr lang="en-US" sz="1700" b="1" dirty="0">
                <a:solidFill>
                  <a:srgbClr val="102D4B"/>
                </a:solidFill>
              </a:rPr>
              <a:t>Coûts à valider</a:t>
            </a:r>
            <a:endParaRPr lang="en-US" sz="1700" dirty="0"/>
          </a:p>
        </p:txBody>
      </p:sp>
      <p:sp>
        <p:nvSpPr>
          <p:cNvPr id="15" name="Text 10"/>
          <p:cNvSpPr txBox="1"/>
          <p:nvPr/>
        </p:nvSpPr>
        <p:spPr>
          <a:xfrm>
            <a:off x="4572000" y="3749040"/>
            <a:ext cx="7040880" cy="777240"/>
          </a:xfrm>
          <a:prstGeom prst="rect">
            <a:avLst/>
          </a:prstGeom>
          <a:noFill/>
          <a:ln/>
        </p:spPr>
        <p:txBody>
          <a:bodyPr wrap="square" lIns="0" tIns="0" rIns="0" bIns="0" rtlCol="0" anchor="ctr"/>
          <a:lstStyle/>
          <a:p>
            <a:pPr indent="0" marL="0">
              <a:buNone/>
            </a:pPr>
            <a:r>
              <a:rPr lang="en-US" sz="1400" dirty="0">
                <a:solidFill>
                  <a:srgbClr val="4A5B6E"/>
                </a:solidFill>
              </a:rPr>
              <a:t>Tapis ESP32 + 8 capteurs : 150–220 TND (estimation) · hub par clinique : 50–150 TND / mois · IA optionnelle</a:t>
            </a:r>
            <a:endParaRPr lang="en-US" sz="1400" dirty="0"/>
          </a:p>
        </p:txBody>
      </p:sp>
      <p:sp>
        <p:nvSpPr>
          <p:cNvPr id="16" name="Shape 11"/>
          <p:cNvSpPr/>
          <p:nvPr/>
        </p:nvSpPr>
        <p:spPr>
          <a:xfrm>
            <a:off x="548640" y="4892040"/>
            <a:ext cx="777240" cy="777240"/>
          </a:xfrm>
          <a:prstGeom prst="ellipse">
            <a:avLst/>
          </a:prstGeom>
          <a:solidFill>
            <a:srgbClr val="E4EFF8"/>
          </a:solidFill>
          <a:ln w="12700">
            <a:solidFill>
              <a:srgbClr val="E4EFF8"/>
            </a:solidFill>
            <a:prstDash val="solid"/>
          </a:ln>
        </p:spPr>
      </p:sp>
      <p:pic>
        <p:nvPicPr>
          <p:cNvPr id="17" name="Image 3" descr="preencoded.png">    </p:cNvPr>
          <p:cNvPicPr>
            <a:picLocks noChangeAspect="1"/>
          </p:cNvPicPr>
          <p:nvPr/>
        </p:nvPicPr>
        <p:blipFill>
          <a:blip r:embed="rId4"/>
          <a:stretch>
            <a:fillRect/>
          </a:stretch>
        </p:blipFill>
        <p:spPr>
          <a:xfrm>
            <a:off x="719633" y="5063033"/>
            <a:ext cx="435254" cy="435254"/>
          </a:xfrm>
          <a:prstGeom prst="rect">
            <a:avLst/>
          </a:prstGeom>
        </p:spPr>
      </p:pic>
      <p:sp>
        <p:nvSpPr>
          <p:cNvPr id="18" name="Text 12"/>
          <p:cNvSpPr txBox="1"/>
          <p:nvPr/>
        </p:nvSpPr>
        <p:spPr>
          <a:xfrm>
            <a:off x="1600200" y="4892040"/>
            <a:ext cx="2926080" cy="777240"/>
          </a:xfrm>
          <a:prstGeom prst="rect">
            <a:avLst/>
          </a:prstGeom>
          <a:noFill/>
          <a:ln/>
        </p:spPr>
        <p:txBody>
          <a:bodyPr wrap="square" lIns="0" tIns="0" rIns="0" bIns="0" rtlCol="0" anchor="ctr"/>
          <a:lstStyle/>
          <a:p>
            <a:pPr indent="0" marL="0">
              <a:buNone/>
            </a:pPr>
            <a:r>
              <a:rPr lang="en-US" sz="1700" b="1" dirty="0">
                <a:solidFill>
                  <a:srgbClr val="102D4B"/>
                </a:solidFill>
              </a:rPr>
              <a:t>Barrières et réponses</a:t>
            </a:r>
            <a:endParaRPr lang="en-US" sz="1700" dirty="0"/>
          </a:p>
        </p:txBody>
      </p:sp>
      <p:sp>
        <p:nvSpPr>
          <p:cNvPr id="19" name="Text 13"/>
          <p:cNvSpPr txBox="1"/>
          <p:nvPr/>
        </p:nvSpPr>
        <p:spPr>
          <a:xfrm>
            <a:off x="4572000" y="4892040"/>
            <a:ext cx="7040880" cy="777240"/>
          </a:xfrm>
          <a:prstGeom prst="rect">
            <a:avLst/>
          </a:prstGeom>
          <a:noFill/>
          <a:ln/>
        </p:spPr>
        <p:txBody>
          <a:bodyPr wrap="square" lIns="0" tIns="0" rIns="0" bIns="0" rtlCol="0" anchor="ctr"/>
          <a:lstStyle/>
          <a:p>
            <a:pPr indent="0" marL="0">
              <a:buNone/>
            </a:pPr>
            <a:r>
              <a:rPr lang="en-US" sz="1400" dirty="0">
                <a:solidFill>
                  <a:srgbClr val="4A5B6E"/>
                </a:solidFill>
              </a:rPr>
              <a:t>Confiance clinique → règle publiée + décision humaine · littératie → derja + voix · réseau → hors ligne</a:t>
            </a:r>
            <a:endParaRPr lang="en-US" sz="1400" dirty="0"/>
          </a:p>
        </p:txBody>
      </p:sp>
      <p:sp>
        <p:nvSpPr>
          <p:cNvPr id="20" name="Text 14"/>
          <p:cNvSpPr txBox="1"/>
          <p:nvPr/>
        </p:nvSpPr>
        <p:spPr>
          <a:xfrm>
            <a:off x="548640" y="6035040"/>
            <a:ext cx="7315200" cy="274320"/>
          </a:xfrm>
          <a:prstGeom prst="rect">
            <a:avLst/>
          </a:prstGeom>
          <a:noFill/>
          <a:ln/>
        </p:spPr>
        <p:txBody>
          <a:bodyPr wrap="square" lIns="0" tIns="0" rIns="0" bIns="0" rtlCol="0" anchor="ctr"/>
          <a:lstStyle/>
          <a:p>
            <a:pPr indent="0" marL="0">
              <a:buNone/>
            </a:pPr>
            <a:r>
              <a:rPr lang="en-US" sz="1200" i="1" dirty="0">
                <a:solidFill>
                  <a:srgbClr val="5F6B78"/>
                </a:solidFill>
              </a:rPr>
              <a:t>Aucun partenariat n'est encore signé.</a:t>
            </a:r>
            <a:endParaRPr lang="en-US" sz="12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1F4C78"/>
                </a:solidFill>
              </a:rPr>
              <a:t>CONFIANCE, SÉCURITÉ, DÉPLOIEMENT</a:t>
            </a:r>
            <a:endParaRPr lang="en-US" sz="1100" dirty="0"/>
          </a:p>
        </p:txBody>
      </p:sp>
      <p:sp>
        <p:nvSpPr>
          <p:cNvPr id="3" name="Text 0"/>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rgbClr val="102D4B"/>
                </a:solidFill>
              </a:rPr>
              <a:t>Une aide consultative, jamais un diagnostic</a:t>
            </a:r>
            <a:endParaRPr lang="en-US" sz="3400" dirty="0"/>
          </a:p>
        </p:txBody>
      </p:sp>
      <p:sp>
        <p:nvSpPr>
          <p:cNvPr id="4" name="Shape 2"/>
          <p:cNvSpPr/>
          <p:nvPr/>
        </p:nvSpPr>
        <p:spPr>
          <a:xfrm>
            <a:off x="548640" y="1463040"/>
            <a:ext cx="3520440" cy="2057400"/>
          </a:xfrm>
          <a:prstGeom prst="roundRect">
            <a:avLst>
              <a:gd name="adj" fmla="val 5333"/>
            </a:avLst>
          </a:prstGeom>
          <a:solidFill>
            <a:srgbClr val="F2F7FC"/>
          </a:solidFill>
          <a:ln w="12700">
            <a:solidFill>
              <a:srgbClr val="F2F7FC"/>
            </a:solidFill>
            <a:prstDash val="solid"/>
          </a:ln>
        </p:spPr>
      </p:sp>
      <p:sp>
        <p:nvSpPr>
          <p:cNvPr id="5" name="Shape 3"/>
          <p:cNvSpPr/>
          <p:nvPr/>
        </p:nvSpPr>
        <p:spPr>
          <a:xfrm>
            <a:off x="822960" y="1719072"/>
            <a:ext cx="640080" cy="640080"/>
          </a:xfrm>
          <a:prstGeom prst="ellipse">
            <a:avLst/>
          </a:prstGeom>
          <a:solidFill>
            <a:srgbClr val="E4EFF8"/>
          </a:solidFill>
          <a:ln w="12700">
            <a:solidFill>
              <a:srgbClr val="E4EFF8"/>
            </a:solidFill>
            <a:prstDash val="solid"/>
          </a:ln>
        </p:spPr>
      </p:sp>
      <p:pic>
        <p:nvPicPr>
          <p:cNvPr id="6" name="Image 0" descr="preencoded.png">    </p:cNvPr>
          <p:cNvPicPr>
            <a:picLocks noChangeAspect="1"/>
          </p:cNvPicPr>
          <p:nvPr/>
        </p:nvPicPr>
        <p:blipFill>
          <a:blip r:embed="rId1"/>
          <a:stretch>
            <a:fillRect/>
          </a:stretch>
        </p:blipFill>
        <p:spPr>
          <a:xfrm>
            <a:off x="963778" y="1859890"/>
            <a:ext cx="358445" cy="358445"/>
          </a:xfrm>
          <a:prstGeom prst="rect">
            <a:avLst/>
          </a:prstGeom>
        </p:spPr>
      </p:pic>
      <p:sp>
        <p:nvSpPr>
          <p:cNvPr id="7" name="Text 4"/>
          <p:cNvSpPr txBox="1"/>
          <p:nvPr/>
        </p:nvSpPr>
        <p:spPr>
          <a:xfrm>
            <a:off x="1600200" y="1719072"/>
            <a:ext cx="2331720" cy="640080"/>
          </a:xfrm>
          <a:prstGeom prst="rect">
            <a:avLst/>
          </a:prstGeom>
          <a:noFill/>
          <a:ln/>
        </p:spPr>
        <p:txBody>
          <a:bodyPr wrap="square" lIns="0" tIns="0" rIns="0" bIns="0" rtlCol="0" anchor="ctr"/>
          <a:lstStyle/>
          <a:p>
            <a:pPr indent="0" marL="0">
              <a:buNone/>
            </a:pPr>
            <a:r>
              <a:rPr lang="en-US" sz="1600" b="1" dirty="0">
                <a:solidFill>
                  <a:srgbClr val="102D4B"/>
                </a:solidFill>
              </a:rPr>
              <a:t>Humain dans la boucle</a:t>
            </a:r>
            <a:endParaRPr lang="en-US" sz="1600" dirty="0"/>
          </a:p>
        </p:txBody>
      </p:sp>
      <p:sp>
        <p:nvSpPr>
          <p:cNvPr id="8" name="Text 5"/>
          <p:cNvSpPr txBox="1"/>
          <p:nvPr/>
        </p:nvSpPr>
        <p:spPr>
          <a:xfrm>
            <a:off x="822960" y="2487168"/>
            <a:ext cx="3017520" cy="960120"/>
          </a:xfrm>
          <a:prstGeom prst="rect">
            <a:avLst/>
          </a:prstGeom>
          <a:noFill/>
          <a:ln/>
        </p:spPr>
        <p:txBody>
          <a:bodyPr wrap="square" lIns="0" tIns="0" rIns="0" bIns="0" rtlCol="0" anchor="t"/>
          <a:lstStyle/>
          <a:p>
            <a:pPr indent="0" marL="0">
              <a:buNone/>
            </a:pPr>
            <a:r>
              <a:rPr lang="en-US" sz="1300" dirty="0">
                <a:solidFill>
                  <a:srgbClr val="4A5B6E"/>
                </a:solidFill>
              </a:rPr>
              <a:t>Chaque alerte est confirmée ou rejetée par un soignant ; le patient voit la décision.</a:t>
            </a:r>
            <a:endParaRPr lang="en-US" sz="1300" dirty="0"/>
          </a:p>
        </p:txBody>
      </p:sp>
      <p:sp>
        <p:nvSpPr>
          <p:cNvPr id="9" name="Shape 6"/>
          <p:cNvSpPr/>
          <p:nvPr/>
        </p:nvSpPr>
        <p:spPr>
          <a:xfrm>
            <a:off x="4297680" y="1463040"/>
            <a:ext cx="3520440" cy="2057400"/>
          </a:xfrm>
          <a:prstGeom prst="roundRect">
            <a:avLst>
              <a:gd name="adj" fmla="val 5333"/>
            </a:avLst>
          </a:prstGeom>
          <a:solidFill>
            <a:srgbClr val="F2F7FC"/>
          </a:solidFill>
          <a:ln w="12700">
            <a:solidFill>
              <a:srgbClr val="F2F7FC"/>
            </a:solidFill>
            <a:prstDash val="solid"/>
          </a:ln>
        </p:spPr>
      </p:sp>
      <p:sp>
        <p:nvSpPr>
          <p:cNvPr id="10" name="Shape 7"/>
          <p:cNvSpPr/>
          <p:nvPr/>
        </p:nvSpPr>
        <p:spPr>
          <a:xfrm>
            <a:off x="4572000" y="1719072"/>
            <a:ext cx="640080" cy="640080"/>
          </a:xfrm>
          <a:prstGeom prst="ellipse">
            <a:avLst/>
          </a:prstGeom>
          <a:solidFill>
            <a:srgbClr val="E4EFF8"/>
          </a:solidFill>
          <a:ln w="12700">
            <a:solidFill>
              <a:srgbClr val="E4EFF8"/>
            </a:solidFill>
            <a:prstDash val="solid"/>
          </a:ln>
        </p:spPr>
      </p:sp>
      <p:pic>
        <p:nvPicPr>
          <p:cNvPr id="11" name="Image 1" descr="preencoded.png">    </p:cNvPr>
          <p:cNvPicPr>
            <a:picLocks noChangeAspect="1"/>
          </p:cNvPicPr>
          <p:nvPr/>
        </p:nvPicPr>
        <p:blipFill>
          <a:blip r:embed="rId2"/>
          <a:stretch>
            <a:fillRect/>
          </a:stretch>
        </p:blipFill>
        <p:spPr>
          <a:xfrm>
            <a:off x="4712818" y="1859890"/>
            <a:ext cx="358445" cy="358445"/>
          </a:xfrm>
          <a:prstGeom prst="rect">
            <a:avLst/>
          </a:prstGeom>
        </p:spPr>
      </p:pic>
      <p:sp>
        <p:nvSpPr>
          <p:cNvPr id="12" name="Text 8"/>
          <p:cNvSpPr txBox="1"/>
          <p:nvPr/>
        </p:nvSpPr>
        <p:spPr>
          <a:xfrm>
            <a:off x="5349240" y="1719072"/>
            <a:ext cx="2331720" cy="640080"/>
          </a:xfrm>
          <a:prstGeom prst="rect">
            <a:avLst/>
          </a:prstGeom>
          <a:noFill/>
          <a:ln/>
        </p:spPr>
        <p:txBody>
          <a:bodyPr wrap="square" lIns="0" tIns="0" rIns="0" bIns="0" rtlCol="0" anchor="ctr"/>
          <a:lstStyle/>
          <a:p>
            <a:pPr indent="0" marL="0">
              <a:buNone/>
            </a:pPr>
            <a:r>
              <a:rPr lang="en-US" sz="1600" b="1" dirty="0">
                <a:solidFill>
                  <a:srgbClr val="102D4B"/>
                </a:solidFill>
              </a:rPr>
              <a:t>Explicable</a:t>
            </a:r>
            <a:endParaRPr lang="en-US" sz="1600" dirty="0"/>
          </a:p>
        </p:txBody>
      </p:sp>
      <p:sp>
        <p:nvSpPr>
          <p:cNvPr id="13" name="Text 9"/>
          <p:cNvSpPr txBox="1"/>
          <p:nvPr/>
        </p:nvSpPr>
        <p:spPr>
          <a:xfrm>
            <a:off x="4572000" y="2487168"/>
            <a:ext cx="3017520" cy="960120"/>
          </a:xfrm>
          <a:prstGeom prst="rect">
            <a:avLst/>
          </a:prstGeom>
          <a:noFill/>
          <a:ln/>
        </p:spPr>
        <p:txBody>
          <a:bodyPr wrap="square" lIns="0" tIns="0" rIns="0" bIns="0" rtlCol="0" anchor="t"/>
          <a:lstStyle/>
          <a:p>
            <a:pPr indent="0" marL="0">
              <a:buNone/>
            </a:pPr>
            <a:r>
              <a:rPr lang="en-US" sz="1300" dirty="0">
                <a:solidFill>
                  <a:srgbClr val="4A5B6E"/>
                </a:solidFill>
              </a:rPr>
              <a:t>Écart, seuil, site, persistance, indice de confiance affichés à chaque alerte.</a:t>
            </a:r>
            <a:endParaRPr lang="en-US" sz="1300" dirty="0"/>
          </a:p>
        </p:txBody>
      </p:sp>
      <p:sp>
        <p:nvSpPr>
          <p:cNvPr id="14" name="Shape 10"/>
          <p:cNvSpPr/>
          <p:nvPr/>
        </p:nvSpPr>
        <p:spPr>
          <a:xfrm>
            <a:off x="8046720" y="1463040"/>
            <a:ext cx="3520440" cy="2057400"/>
          </a:xfrm>
          <a:prstGeom prst="roundRect">
            <a:avLst>
              <a:gd name="adj" fmla="val 5333"/>
            </a:avLst>
          </a:prstGeom>
          <a:solidFill>
            <a:srgbClr val="F2F7FC"/>
          </a:solidFill>
          <a:ln w="12700">
            <a:solidFill>
              <a:srgbClr val="F2F7FC"/>
            </a:solidFill>
            <a:prstDash val="solid"/>
          </a:ln>
        </p:spPr>
      </p:sp>
      <p:sp>
        <p:nvSpPr>
          <p:cNvPr id="15" name="Shape 11"/>
          <p:cNvSpPr/>
          <p:nvPr/>
        </p:nvSpPr>
        <p:spPr>
          <a:xfrm>
            <a:off x="8321040" y="1719072"/>
            <a:ext cx="640080" cy="640080"/>
          </a:xfrm>
          <a:prstGeom prst="ellipse">
            <a:avLst/>
          </a:prstGeom>
          <a:solidFill>
            <a:srgbClr val="E4EFF8"/>
          </a:solidFill>
          <a:ln w="12700">
            <a:solidFill>
              <a:srgbClr val="E4EFF8"/>
            </a:solidFill>
            <a:prstDash val="solid"/>
          </a:ln>
        </p:spPr>
      </p:sp>
      <p:pic>
        <p:nvPicPr>
          <p:cNvPr id="16" name="Image 2" descr="preencoded.png">    </p:cNvPr>
          <p:cNvPicPr>
            <a:picLocks noChangeAspect="1"/>
          </p:cNvPicPr>
          <p:nvPr/>
        </p:nvPicPr>
        <p:blipFill>
          <a:blip r:embed="rId3"/>
          <a:stretch>
            <a:fillRect/>
          </a:stretch>
        </p:blipFill>
        <p:spPr>
          <a:xfrm>
            <a:off x="8461858" y="1859890"/>
            <a:ext cx="358445" cy="358445"/>
          </a:xfrm>
          <a:prstGeom prst="rect">
            <a:avLst/>
          </a:prstGeom>
        </p:spPr>
      </p:pic>
      <p:sp>
        <p:nvSpPr>
          <p:cNvPr id="17" name="Text 12"/>
          <p:cNvSpPr txBox="1"/>
          <p:nvPr/>
        </p:nvSpPr>
        <p:spPr>
          <a:xfrm>
            <a:off x="9098280" y="1719072"/>
            <a:ext cx="2331720" cy="640080"/>
          </a:xfrm>
          <a:prstGeom prst="rect">
            <a:avLst/>
          </a:prstGeom>
          <a:noFill/>
          <a:ln/>
        </p:spPr>
        <p:txBody>
          <a:bodyPr wrap="square" lIns="0" tIns="0" rIns="0" bIns="0" rtlCol="0" anchor="ctr"/>
          <a:lstStyle/>
          <a:p>
            <a:pPr indent="0" marL="0">
              <a:buNone/>
            </a:pPr>
            <a:r>
              <a:rPr lang="en-US" sz="1600" b="1" dirty="0">
                <a:solidFill>
                  <a:srgbClr val="102D4B"/>
                </a:solidFill>
              </a:rPr>
              <a:t>Données protégées</a:t>
            </a:r>
            <a:endParaRPr lang="en-US" sz="1600" dirty="0"/>
          </a:p>
        </p:txBody>
      </p:sp>
      <p:sp>
        <p:nvSpPr>
          <p:cNvPr id="18" name="Text 13"/>
          <p:cNvSpPr txBox="1"/>
          <p:nvPr/>
        </p:nvSpPr>
        <p:spPr>
          <a:xfrm>
            <a:off x="8321040" y="2487168"/>
            <a:ext cx="3017520" cy="960120"/>
          </a:xfrm>
          <a:prstGeom prst="rect">
            <a:avLst/>
          </a:prstGeom>
          <a:noFill/>
          <a:ln/>
        </p:spPr>
        <p:txBody>
          <a:bodyPr wrap="square" lIns="0" tIns="0" rIns="0" bIns="0" rtlCol="0" anchor="t"/>
          <a:lstStyle/>
          <a:p>
            <a:pPr indent="0" marL="0">
              <a:buNone/>
            </a:pPr>
            <a:r>
              <a:rPr lang="en-US" sz="1300" dirty="0">
                <a:solidFill>
                  <a:srgbClr val="4A5B6E"/>
                </a:solidFill>
              </a:rPr>
              <a:t>Pseudonymes, AES-256 au repos, TLS 1.3, consentement, export et effacement.</a:t>
            </a:r>
            <a:endParaRPr lang="en-US" sz="1300" dirty="0"/>
          </a:p>
        </p:txBody>
      </p:sp>
      <p:sp>
        <p:nvSpPr>
          <p:cNvPr id="19" name="Shape 14"/>
          <p:cNvSpPr/>
          <p:nvPr/>
        </p:nvSpPr>
        <p:spPr>
          <a:xfrm>
            <a:off x="548640" y="3703320"/>
            <a:ext cx="3520440" cy="2057400"/>
          </a:xfrm>
          <a:prstGeom prst="roundRect">
            <a:avLst>
              <a:gd name="adj" fmla="val 5333"/>
            </a:avLst>
          </a:prstGeom>
          <a:solidFill>
            <a:srgbClr val="F2F7FC"/>
          </a:solidFill>
          <a:ln w="12700">
            <a:solidFill>
              <a:srgbClr val="F2F7FC"/>
            </a:solidFill>
            <a:prstDash val="solid"/>
          </a:ln>
        </p:spPr>
      </p:sp>
      <p:sp>
        <p:nvSpPr>
          <p:cNvPr id="20" name="Shape 15"/>
          <p:cNvSpPr/>
          <p:nvPr/>
        </p:nvSpPr>
        <p:spPr>
          <a:xfrm>
            <a:off x="822960" y="3959352"/>
            <a:ext cx="640080" cy="640080"/>
          </a:xfrm>
          <a:prstGeom prst="ellipse">
            <a:avLst/>
          </a:prstGeom>
          <a:solidFill>
            <a:srgbClr val="E4EFF8"/>
          </a:solidFill>
          <a:ln w="12700">
            <a:solidFill>
              <a:srgbClr val="E4EFF8"/>
            </a:solidFill>
            <a:prstDash val="solid"/>
          </a:ln>
        </p:spPr>
      </p:sp>
      <p:pic>
        <p:nvPicPr>
          <p:cNvPr id="21" name="Image 3" descr="preencoded.png">    </p:cNvPr>
          <p:cNvPicPr>
            <a:picLocks noChangeAspect="1"/>
          </p:cNvPicPr>
          <p:nvPr/>
        </p:nvPicPr>
        <p:blipFill>
          <a:blip r:embed="rId4"/>
          <a:stretch>
            <a:fillRect/>
          </a:stretch>
        </p:blipFill>
        <p:spPr>
          <a:xfrm>
            <a:off x="963778" y="4100170"/>
            <a:ext cx="358445" cy="358445"/>
          </a:xfrm>
          <a:prstGeom prst="rect">
            <a:avLst/>
          </a:prstGeom>
        </p:spPr>
      </p:pic>
      <p:sp>
        <p:nvSpPr>
          <p:cNvPr id="22" name="Text 16"/>
          <p:cNvSpPr txBox="1"/>
          <p:nvPr/>
        </p:nvSpPr>
        <p:spPr>
          <a:xfrm>
            <a:off x="1600200" y="3959352"/>
            <a:ext cx="2331720" cy="640080"/>
          </a:xfrm>
          <a:prstGeom prst="rect">
            <a:avLst/>
          </a:prstGeom>
          <a:noFill/>
          <a:ln/>
        </p:spPr>
        <p:txBody>
          <a:bodyPr wrap="square" lIns="0" tIns="0" rIns="0" bIns="0" rtlCol="0" anchor="ctr"/>
          <a:lstStyle/>
          <a:p>
            <a:pPr indent="0" marL="0">
              <a:buNone/>
            </a:pPr>
            <a:r>
              <a:rPr lang="en-US" sz="1600" b="1" dirty="0">
                <a:solidFill>
                  <a:srgbClr val="102D4B"/>
                </a:solidFill>
              </a:rPr>
              <a:t>Traçable</a:t>
            </a:r>
            <a:endParaRPr lang="en-US" sz="1600" dirty="0"/>
          </a:p>
        </p:txBody>
      </p:sp>
      <p:sp>
        <p:nvSpPr>
          <p:cNvPr id="23" name="Text 17"/>
          <p:cNvSpPr txBox="1"/>
          <p:nvPr/>
        </p:nvSpPr>
        <p:spPr>
          <a:xfrm>
            <a:off x="822960" y="4727448"/>
            <a:ext cx="3017520" cy="960120"/>
          </a:xfrm>
          <a:prstGeom prst="rect">
            <a:avLst/>
          </a:prstGeom>
          <a:noFill/>
          <a:ln/>
        </p:spPr>
        <p:txBody>
          <a:bodyPr wrap="square" lIns="0" tIns="0" rIns="0" bIns="0" rtlCol="0" anchor="t"/>
          <a:lstStyle/>
          <a:p>
            <a:pPr indent="0" marL="0">
              <a:buNone/>
            </a:pPr>
            <a:r>
              <a:rPr lang="en-US" sz="1300" dirty="0">
                <a:solidFill>
                  <a:srgbClr val="4A5B6E"/>
                </a:solidFill>
              </a:rPr>
              <a:t>Journal d'audit chaîné SHA-256 : accès, décisions, exports.</a:t>
            </a:r>
            <a:endParaRPr lang="en-US" sz="1300" dirty="0"/>
          </a:p>
        </p:txBody>
      </p:sp>
      <p:sp>
        <p:nvSpPr>
          <p:cNvPr id="24" name="Shape 18"/>
          <p:cNvSpPr/>
          <p:nvPr/>
        </p:nvSpPr>
        <p:spPr>
          <a:xfrm>
            <a:off x="4297680" y="3703320"/>
            <a:ext cx="3520440" cy="2057400"/>
          </a:xfrm>
          <a:prstGeom prst="roundRect">
            <a:avLst>
              <a:gd name="adj" fmla="val 5333"/>
            </a:avLst>
          </a:prstGeom>
          <a:solidFill>
            <a:srgbClr val="F2F7FC"/>
          </a:solidFill>
          <a:ln w="12700">
            <a:solidFill>
              <a:srgbClr val="F2F7FC"/>
            </a:solidFill>
            <a:prstDash val="solid"/>
          </a:ln>
        </p:spPr>
      </p:sp>
      <p:sp>
        <p:nvSpPr>
          <p:cNvPr id="25" name="Shape 19"/>
          <p:cNvSpPr/>
          <p:nvPr/>
        </p:nvSpPr>
        <p:spPr>
          <a:xfrm>
            <a:off x="4572000" y="3959352"/>
            <a:ext cx="640080" cy="640080"/>
          </a:xfrm>
          <a:prstGeom prst="ellipse">
            <a:avLst/>
          </a:prstGeom>
          <a:solidFill>
            <a:srgbClr val="E4EFF8"/>
          </a:solidFill>
          <a:ln w="12700">
            <a:solidFill>
              <a:srgbClr val="E4EFF8"/>
            </a:solidFill>
            <a:prstDash val="solid"/>
          </a:ln>
        </p:spPr>
      </p:sp>
      <p:pic>
        <p:nvPicPr>
          <p:cNvPr id="26" name="Image 4" descr="preencoded.png">    </p:cNvPr>
          <p:cNvPicPr>
            <a:picLocks noChangeAspect="1"/>
          </p:cNvPicPr>
          <p:nvPr/>
        </p:nvPicPr>
        <p:blipFill>
          <a:blip r:embed="rId5"/>
          <a:stretch>
            <a:fillRect/>
          </a:stretch>
        </p:blipFill>
        <p:spPr>
          <a:xfrm>
            <a:off x="4712818" y="4100170"/>
            <a:ext cx="358445" cy="358445"/>
          </a:xfrm>
          <a:prstGeom prst="rect">
            <a:avLst/>
          </a:prstGeom>
        </p:spPr>
      </p:pic>
      <p:sp>
        <p:nvSpPr>
          <p:cNvPr id="27" name="Text 20"/>
          <p:cNvSpPr txBox="1"/>
          <p:nvPr/>
        </p:nvSpPr>
        <p:spPr>
          <a:xfrm>
            <a:off x="5349240" y="3959352"/>
            <a:ext cx="2331720" cy="640080"/>
          </a:xfrm>
          <a:prstGeom prst="rect">
            <a:avLst/>
          </a:prstGeom>
          <a:noFill/>
          <a:ln/>
        </p:spPr>
        <p:txBody>
          <a:bodyPr wrap="square" lIns="0" tIns="0" rIns="0" bIns="0" rtlCol="0" anchor="ctr"/>
          <a:lstStyle/>
          <a:p>
            <a:pPr indent="0" marL="0">
              <a:buNone/>
            </a:pPr>
            <a:r>
              <a:rPr lang="en-US" sz="1600" b="1" dirty="0">
                <a:solidFill>
                  <a:srgbClr val="102D4B"/>
                </a:solidFill>
              </a:rPr>
              <a:t>Honnête sur les données</a:t>
            </a:r>
            <a:endParaRPr lang="en-US" sz="1600" dirty="0"/>
          </a:p>
        </p:txBody>
      </p:sp>
      <p:sp>
        <p:nvSpPr>
          <p:cNvPr id="28" name="Text 21"/>
          <p:cNvSpPr txBox="1"/>
          <p:nvPr/>
        </p:nvSpPr>
        <p:spPr>
          <a:xfrm>
            <a:off x="4572000" y="4727448"/>
            <a:ext cx="3017520" cy="960120"/>
          </a:xfrm>
          <a:prstGeom prst="rect">
            <a:avLst/>
          </a:prstGeom>
          <a:noFill/>
          <a:ln/>
        </p:spPr>
        <p:txBody>
          <a:bodyPr wrap="square" lIns="0" tIns="0" rIns="0" bIns="0" rtlCol="0" anchor="t"/>
          <a:lstStyle/>
          <a:p>
            <a:pPr indent="0" marL="0">
              <a:buNone/>
            </a:pPr>
            <a:r>
              <a:rPr lang="en-US" sz="1300" dirty="0">
                <a:solidFill>
                  <a:srgbClr val="4A5B6E"/>
                </a:solidFill>
              </a:rPr>
              <a:t>Simulation et données de démo toujours étiquetées ; capteurs prototypes signalés.</a:t>
            </a:r>
            <a:endParaRPr lang="en-US" sz="1300" dirty="0"/>
          </a:p>
        </p:txBody>
      </p:sp>
      <p:sp>
        <p:nvSpPr>
          <p:cNvPr id="29" name="Shape 22"/>
          <p:cNvSpPr/>
          <p:nvPr/>
        </p:nvSpPr>
        <p:spPr>
          <a:xfrm>
            <a:off x="8046720" y="3703320"/>
            <a:ext cx="3520440" cy="2057400"/>
          </a:xfrm>
          <a:prstGeom prst="roundRect">
            <a:avLst>
              <a:gd name="adj" fmla="val 5333"/>
            </a:avLst>
          </a:prstGeom>
          <a:solidFill>
            <a:srgbClr val="F2F7FC"/>
          </a:solidFill>
          <a:ln w="12700">
            <a:solidFill>
              <a:srgbClr val="F2F7FC"/>
            </a:solidFill>
            <a:prstDash val="solid"/>
          </a:ln>
        </p:spPr>
      </p:sp>
      <p:sp>
        <p:nvSpPr>
          <p:cNvPr id="30" name="Shape 23"/>
          <p:cNvSpPr/>
          <p:nvPr/>
        </p:nvSpPr>
        <p:spPr>
          <a:xfrm>
            <a:off x="8321040" y="3959352"/>
            <a:ext cx="640080" cy="640080"/>
          </a:xfrm>
          <a:prstGeom prst="ellipse">
            <a:avLst/>
          </a:prstGeom>
          <a:solidFill>
            <a:srgbClr val="102D4B"/>
          </a:solidFill>
          <a:ln w="12700">
            <a:solidFill>
              <a:srgbClr val="102D4B"/>
            </a:solidFill>
            <a:prstDash val="solid"/>
          </a:ln>
        </p:spPr>
      </p:sp>
      <p:pic>
        <p:nvPicPr>
          <p:cNvPr id="31" name="Image 5" descr="preencoded.png">    </p:cNvPr>
          <p:cNvPicPr>
            <a:picLocks noChangeAspect="1"/>
          </p:cNvPicPr>
          <p:nvPr/>
        </p:nvPicPr>
        <p:blipFill>
          <a:blip r:embed="rId6"/>
          <a:stretch>
            <a:fillRect/>
          </a:stretch>
        </p:blipFill>
        <p:spPr>
          <a:xfrm>
            <a:off x="8461858" y="4100170"/>
            <a:ext cx="358445" cy="358445"/>
          </a:xfrm>
          <a:prstGeom prst="rect">
            <a:avLst/>
          </a:prstGeom>
        </p:spPr>
      </p:pic>
      <p:sp>
        <p:nvSpPr>
          <p:cNvPr id="32" name="Text 24"/>
          <p:cNvSpPr txBox="1"/>
          <p:nvPr/>
        </p:nvSpPr>
        <p:spPr>
          <a:xfrm>
            <a:off x="9098280" y="3959352"/>
            <a:ext cx="2331720" cy="640080"/>
          </a:xfrm>
          <a:prstGeom prst="rect">
            <a:avLst/>
          </a:prstGeom>
          <a:noFill/>
          <a:ln/>
        </p:spPr>
        <p:txBody>
          <a:bodyPr wrap="square" lIns="0" tIns="0" rIns="0" bIns="0" rtlCol="0" anchor="ctr"/>
          <a:lstStyle/>
          <a:p>
            <a:pPr indent="0" marL="0">
              <a:buNone/>
            </a:pPr>
            <a:r>
              <a:rPr lang="en-US" sz="1600" b="1" dirty="0">
                <a:solidFill>
                  <a:srgbClr val="102D4B"/>
                </a:solidFill>
              </a:rPr>
              <a:t>Avant un vrai pilote</a:t>
            </a:r>
            <a:endParaRPr lang="en-US" sz="1600" dirty="0"/>
          </a:p>
        </p:txBody>
      </p:sp>
      <p:sp>
        <p:nvSpPr>
          <p:cNvPr id="33" name="Text 25"/>
          <p:cNvSpPr txBox="1"/>
          <p:nvPr/>
        </p:nvSpPr>
        <p:spPr>
          <a:xfrm>
            <a:off x="8321040" y="4727448"/>
            <a:ext cx="3017520" cy="960120"/>
          </a:xfrm>
          <a:prstGeom prst="rect">
            <a:avLst/>
          </a:prstGeom>
          <a:noFill/>
          <a:ln/>
        </p:spPr>
        <p:txBody>
          <a:bodyPr wrap="square" lIns="0" tIns="0" rIns="0" bIns="0" rtlCol="0" anchor="t"/>
          <a:lstStyle/>
          <a:p>
            <a:pPr indent="0" marL="0">
              <a:buNone/>
            </a:pPr>
            <a:r>
              <a:rPr lang="en-US" sz="1300" dirty="0">
                <a:solidFill>
                  <a:srgbClr val="4A5B6E"/>
                </a:solidFill>
              </a:rPr>
              <a:t>Déclaration INPDP, hébergement agréé, comité d'éthique, qualification dispositif médical.</a:t>
            </a:r>
            <a:endParaRPr lang="en-US" sz="13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164592"/>
            <a:ext cx="7315200" cy="274320"/>
          </a:xfrm>
          <a:prstGeom prst="rect">
            <a:avLst/>
          </a:prstGeom>
          <a:noFill/>
          <a:ln/>
        </p:spPr>
        <p:txBody>
          <a:bodyPr wrap="square" lIns="0" tIns="0" rIns="0" bIns="0" rtlCol="0" anchor="ctr"/>
          <a:lstStyle/>
          <a:p>
            <a:pPr indent="0" marL="0">
              <a:buNone/>
            </a:pPr>
            <a:r>
              <a:rPr lang="en-US" sz="1100" b="1" spc="200" kern="0" dirty="0">
                <a:solidFill>
                  <a:srgbClr val="1F4C78"/>
                </a:solidFill>
              </a:rPr>
              <a:t>FEUILLE DE ROUTE</a:t>
            </a:r>
            <a:endParaRPr lang="en-US" sz="1100" dirty="0"/>
          </a:p>
        </p:txBody>
      </p:sp>
      <p:sp>
        <p:nvSpPr>
          <p:cNvPr id="3" name="Text 0"/>
          <p:cNvSpPr/>
          <p:nvPr>
            <p:ph idx="101" type="title" hasCustomPrompt="1"/>
          </p:nvPr>
        </p:nvSpPr>
        <p:spPr>
          <a:xfrm>
            <a:off x="548640" y="411480"/>
            <a:ext cx="11094415" cy="822960"/>
          </a:xfrm>
          <a:prstGeom prst="rect">
            <a:avLst/>
          </a:prstGeom>
          <a:noFill/>
          <a:ln/>
        </p:spPr>
        <p:txBody>
          <a:bodyPr wrap="square" lIns="0" tIns="0" rIns="0" bIns="0" rtlCol="0" anchor="t"/>
          <a:lstStyle/>
          <a:p>
            <a:pPr algn="l" indent="0" marL="0">
              <a:buNone/>
            </a:pPr>
            <a:r>
              <a:rPr lang="en-US" sz="3400" b="1" dirty="0">
                <a:solidFill>
                  <a:srgbClr val="102D4B"/>
                </a:solidFill>
              </a:rPr>
              <a:t>Du prototype au pilote en six mois</a:t>
            </a:r>
            <a:endParaRPr lang="en-US" sz="3400" dirty="0"/>
          </a:p>
        </p:txBody>
      </p:sp>
      <p:sp>
        <p:nvSpPr>
          <p:cNvPr id="4" name="Shape 2"/>
          <p:cNvSpPr/>
          <p:nvPr/>
        </p:nvSpPr>
        <p:spPr>
          <a:xfrm>
            <a:off x="822960" y="2057400"/>
            <a:ext cx="10515600" cy="0"/>
          </a:xfrm>
          <a:prstGeom prst="line">
            <a:avLst/>
          </a:prstGeom>
          <a:noFill/>
          <a:ln w="38100">
            <a:solidFill>
              <a:srgbClr val="8DBADB"/>
            </a:solidFill>
            <a:prstDash val="solid"/>
          </a:ln>
        </p:spPr>
      </p:sp>
      <p:sp>
        <p:nvSpPr>
          <p:cNvPr id="5" name="Shape 3"/>
          <p:cNvSpPr/>
          <p:nvPr/>
        </p:nvSpPr>
        <p:spPr>
          <a:xfrm>
            <a:off x="685800" y="1874520"/>
            <a:ext cx="365760" cy="365760"/>
          </a:xfrm>
          <a:prstGeom prst="ellipse">
            <a:avLst/>
          </a:prstGeom>
          <a:solidFill>
            <a:srgbClr val="102D4B"/>
          </a:solidFill>
          <a:ln w="25400">
            <a:solidFill>
              <a:srgbClr val="102D4B"/>
            </a:solidFill>
            <a:prstDash val="solid"/>
          </a:ln>
        </p:spPr>
      </p:sp>
      <p:sp>
        <p:nvSpPr>
          <p:cNvPr id="6" name="Text 4"/>
          <p:cNvSpPr txBox="1"/>
          <p:nvPr/>
        </p:nvSpPr>
        <p:spPr>
          <a:xfrm>
            <a:off x="548640" y="1371600"/>
            <a:ext cx="2560320" cy="365760"/>
          </a:xfrm>
          <a:prstGeom prst="rect">
            <a:avLst/>
          </a:prstGeom>
          <a:noFill/>
          <a:ln/>
        </p:spPr>
        <p:txBody>
          <a:bodyPr wrap="square" lIns="0" tIns="0" rIns="0" bIns="0" rtlCol="0" anchor="ctr"/>
          <a:lstStyle/>
          <a:p>
            <a:pPr indent="0" marL="0">
              <a:buNone/>
            </a:pPr>
            <a:r>
              <a:rPr lang="en-US" sz="1300" b="1" dirty="0">
                <a:solidFill>
                  <a:srgbClr val="1F4C78"/>
                </a:solidFill>
              </a:rPr>
              <a:t>Aujourd'hui</a:t>
            </a:r>
            <a:endParaRPr lang="en-US" sz="1300" dirty="0"/>
          </a:p>
        </p:txBody>
      </p:sp>
      <p:sp>
        <p:nvSpPr>
          <p:cNvPr id="7" name="Shape 5"/>
          <p:cNvSpPr/>
          <p:nvPr/>
        </p:nvSpPr>
        <p:spPr>
          <a:xfrm>
            <a:off x="548640" y="2514600"/>
            <a:ext cx="2606040" cy="3520440"/>
          </a:xfrm>
          <a:prstGeom prst="roundRect">
            <a:avLst>
              <a:gd name="adj" fmla="val 4211"/>
            </a:avLst>
          </a:prstGeom>
          <a:solidFill>
            <a:srgbClr val="F2F7FC"/>
          </a:solidFill>
          <a:ln w="12700">
            <a:solidFill>
              <a:srgbClr val="F2F7FC"/>
            </a:solidFill>
            <a:prstDash val="solid"/>
          </a:ln>
        </p:spPr>
      </p:sp>
      <p:sp>
        <p:nvSpPr>
          <p:cNvPr id="8" name="Text 6"/>
          <p:cNvSpPr txBox="1"/>
          <p:nvPr/>
        </p:nvSpPr>
        <p:spPr>
          <a:xfrm>
            <a:off x="749808" y="2670048"/>
            <a:ext cx="2240280" cy="411480"/>
          </a:xfrm>
          <a:prstGeom prst="rect">
            <a:avLst/>
          </a:prstGeom>
          <a:noFill/>
          <a:ln/>
        </p:spPr>
        <p:txBody>
          <a:bodyPr wrap="square" lIns="0" tIns="0" rIns="0" bIns="0" rtlCol="0" anchor="ctr"/>
          <a:lstStyle/>
          <a:p>
            <a:pPr indent="0" marL="0">
              <a:buNone/>
            </a:pPr>
            <a:r>
              <a:rPr lang="en-US" sz="1900" b="1" dirty="0">
                <a:solidFill>
                  <a:srgbClr val="102D4B"/>
                </a:solidFill>
              </a:rPr>
              <a:t>Prototype</a:t>
            </a:r>
            <a:endParaRPr lang="en-US" sz="1900" dirty="0"/>
          </a:p>
        </p:txBody>
      </p:sp>
      <p:sp>
        <p:nvSpPr>
          <p:cNvPr id="9" name="Text 7"/>
          <p:cNvSpPr txBox="1"/>
          <p:nvPr/>
        </p:nvSpPr>
        <p:spPr>
          <a:xfrm>
            <a:off x="749808" y="3154680"/>
            <a:ext cx="224028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A5B6E"/>
                </a:solidFill>
              </a:rPr>
              <a:t>Banc Uno + 2 capteurs</a:t>
            </a:r>
            <a:endParaRPr lang="en-US" sz="1300" dirty="0"/>
          </a:p>
          <a:p>
            <a:pPr marL="342900" indent="-342900">
              <a:spcAft>
                <a:spcPts val="600"/>
              </a:spcAft>
              <a:buSzPct val="100000"/>
              <a:buChar char="•"/>
            </a:pPr>
            <a:r>
              <a:rPr lang="en-US" sz="1300" dirty="0">
                <a:solidFill>
                  <a:srgbClr val="4A5B6E"/>
                </a:solidFill>
              </a:rPr>
              <a:t>App, hub, tableau de bord</a:t>
            </a:r>
            <a:endParaRPr lang="en-US" sz="1300" dirty="0"/>
          </a:p>
          <a:p>
            <a:pPr marL="342900" indent="-342900">
              <a:spcAft>
                <a:spcPts val="600"/>
              </a:spcAft>
              <a:buSzPct val="100000"/>
              <a:buChar char="•"/>
            </a:pPr>
            <a:r>
              <a:rPr lang="en-US" sz="1300" dirty="0">
                <a:solidFill>
                  <a:srgbClr val="4A5B6E"/>
                </a:solidFill>
              </a:rPr>
              <a:t>Données synthétiques</a:t>
            </a:r>
            <a:endParaRPr lang="en-US" sz="1300" dirty="0"/>
          </a:p>
        </p:txBody>
      </p:sp>
      <p:sp>
        <p:nvSpPr>
          <p:cNvPr id="10" name="Text 8"/>
          <p:cNvSpPr txBox="1"/>
          <p:nvPr/>
        </p:nvSpPr>
        <p:spPr>
          <a:xfrm>
            <a:off x="749808" y="5120640"/>
            <a:ext cx="2240280" cy="777240"/>
          </a:xfrm>
          <a:prstGeom prst="rect">
            <a:avLst/>
          </a:prstGeom>
          <a:noFill/>
          <a:ln/>
        </p:spPr>
        <p:txBody>
          <a:bodyPr wrap="square" lIns="0" tIns="0" rIns="0" bIns="0" rtlCol="0" anchor="t"/>
          <a:lstStyle/>
          <a:p>
            <a:pPr indent="0" marL="0">
              <a:buNone/>
            </a:pPr>
            <a:r>
              <a:rPr lang="en-US" sz="1300" b="1" dirty="0">
                <a:solidFill>
                  <a:srgbClr val="1E7A4F"/>
                </a:solidFill>
              </a:rPr>
              <a:t>Chaîne complète démontrée</a:t>
            </a:r>
            <a:endParaRPr lang="en-US" sz="1300" dirty="0"/>
          </a:p>
        </p:txBody>
      </p:sp>
      <p:sp>
        <p:nvSpPr>
          <p:cNvPr id="11" name="Shape 9"/>
          <p:cNvSpPr/>
          <p:nvPr/>
        </p:nvSpPr>
        <p:spPr>
          <a:xfrm>
            <a:off x="3474720" y="1874520"/>
            <a:ext cx="365760" cy="365760"/>
          </a:xfrm>
          <a:prstGeom prst="ellipse">
            <a:avLst/>
          </a:prstGeom>
          <a:solidFill>
            <a:srgbClr val="FFFFFF"/>
          </a:solidFill>
          <a:ln w="25400">
            <a:solidFill>
              <a:srgbClr val="102D4B"/>
            </a:solidFill>
            <a:prstDash val="solid"/>
          </a:ln>
        </p:spPr>
      </p:sp>
      <p:sp>
        <p:nvSpPr>
          <p:cNvPr id="12" name="Text 10"/>
          <p:cNvSpPr txBox="1"/>
          <p:nvPr/>
        </p:nvSpPr>
        <p:spPr>
          <a:xfrm>
            <a:off x="3337560" y="1371600"/>
            <a:ext cx="2560320" cy="365760"/>
          </a:xfrm>
          <a:prstGeom prst="rect">
            <a:avLst/>
          </a:prstGeom>
          <a:noFill/>
          <a:ln/>
        </p:spPr>
        <p:txBody>
          <a:bodyPr wrap="square" lIns="0" tIns="0" rIns="0" bIns="0" rtlCol="0" anchor="ctr"/>
          <a:lstStyle/>
          <a:p>
            <a:pPr indent="0" marL="0">
              <a:buNone/>
            </a:pPr>
            <a:r>
              <a:rPr lang="en-US" sz="1300" b="1" dirty="0">
                <a:solidFill>
                  <a:srgbClr val="1F4C78"/>
                </a:solidFill>
              </a:rPr>
              <a:t>0–3 mois</a:t>
            </a:r>
            <a:endParaRPr lang="en-US" sz="1300" dirty="0"/>
          </a:p>
        </p:txBody>
      </p:sp>
      <p:sp>
        <p:nvSpPr>
          <p:cNvPr id="13" name="Shape 11"/>
          <p:cNvSpPr/>
          <p:nvPr/>
        </p:nvSpPr>
        <p:spPr>
          <a:xfrm>
            <a:off x="3337560" y="2514600"/>
            <a:ext cx="2606040" cy="3520440"/>
          </a:xfrm>
          <a:prstGeom prst="roundRect">
            <a:avLst>
              <a:gd name="adj" fmla="val 4211"/>
            </a:avLst>
          </a:prstGeom>
          <a:solidFill>
            <a:srgbClr val="F2F7FC"/>
          </a:solidFill>
          <a:ln w="12700">
            <a:solidFill>
              <a:srgbClr val="F2F7FC"/>
            </a:solidFill>
            <a:prstDash val="solid"/>
          </a:ln>
        </p:spPr>
      </p:sp>
      <p:sp>
        <p:nvSpPr>
          <p:cNvPr id="14" name="Text 12"/>
          <p:cNvSpPr txBox="1"/>
          <p:nvPr/>
        </p:nvSpPr>
        <p:spPr>
          <a:xfrm>
            <a:off x="3538728" y="2670048"/>
            <a:ext cx="2240280" cy="411480"/>
          </a:xfrm>
          <a:prstGeom prst="rect">
            <a:avLst/>
          </a:prstGeom>
          <a:noFill/>
          <a:ln/>
        </p:spPr>
        <p:txBody>
          <a:bodyPr wrap="square" lIns="0" tIns="0" rIns="0" bIns="0" rtlCol="0" anchor="ctr"/>
          <a:lstStyle/>
          <a:p>
            <a:pPr indent="0" marL="0">
              <a:buNone/>
            </a:pPr>
            <a:r>
              <a:rPr lang="en-US" sz="1900" b="1" dirty="0">
                <a:solidFill>
                  <a:srgbClr val="102D4B"/>
                </a:solidFill>
              </a:rPr>
              <a:t>Tapis réel</a:t>
            </a:r>
            <a:endParaRPr lang="en-US" sz="1900" dirty="0"/>
          </a:p>
        </p:txBody>
      </p:sp>
      <p:sp>
        <p:nvSpPr>
          <p:cNvPr id="15" name="Text 13"/>
          <p:cNvSpPr txBox="1"/>
          <p:nvPr/>
        </p:nvSpPr>
        <p:spPr>
          <a:xfrm>
            <a:off x="3538728" y="3154680"/>
            <a:ext cx="224028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A5B6E"/>
                </a:solidFill>
              </a:rPr>
              <a:t>ESP32 + 8 capteurs de contact × 10</a:t>
            </a:r>
            <a:endParaRPr lang="en-US" sz="1300" dirty="0"/>
          </a:p>
          <a:p>
            <a:pPr marL="342900" indent="-342900">
              <a:spcAft>
                <a:spcPts val="600"/>
              </a:spcAft>
              <a:buSzPct val="100000"/>
              <a:buChar char="•"/>
            </a:pPr>
            <a:r>
              <a:rPr lang="en-US" sz="1300" dirty="0">
                <a:solidFill>
                  <a:srgbClr val="4A5B6E"/>
                </a:solidFill>
              </a:rPr>
              <a:t>Calibration vs thermomètre de référence</a:t>
            </a:r>
            <a:endParaRPr lang="en-US" sz="1300" dirty="0"/>
          </a:p>
          <a:p>
            <a:pPr marL="342900" indent="-342900">
              <a:spcAft>
                <a:spcPts val="600"/>
              </a:spcAft>
              <a:buSzPct val="100000"/>
              <a:buChar char="•"/>
            </a:pPr>
            <a:r>
              <a:rPr lang="en-US" sz="1300" dirty="0">
                <a:solidFill>
                  <a:srgbClr val="4A5B6E"/>
                </a:solidFill>
              </a:rPr>
              <a:t>Relecture derja/arabe, dossier INPDP</a:t>
            </a:r>
            <a:endParaRPr lang="en-US" sz="1300" dirty="0"/>
          </a:p>
        </p:txBody>
      </p:sp>
      <p:sp>
        <p:nvSpPr>
          <p:cNvPr id="16" name="Text 14"/>
          <p:cNvSpPr txBox="1"/>
          <p:nvPr/>
        </p:nvSpPr>
        <p:spPr>
          <a:xfrm>
            <a:off x="3538728" y="5120640"/>
            <a:ext cx="2240280" cy="777240"/>
          </a:xfrm>
          <a:prstGeom prst="rect">
            <a:avLst/>
          </a:prstGeom>
          <a:noFill/>
          <a:ln/>
        </p:spPr>
        <p:txBody>
          <a:bodyPr wrap="square" lIns="0" tIns="0" rIns="0" bIns="0" rtlCol="0" anchor="t"/>
          <a:lstStyle/>
          <a:p>
            <a:pPr indent="0" marL="0">
              <a:buNone/>
            </a:pPr>
            <a:r>
              <a:rPr lang="en-US" sz="1300" b="1" dirty="0">
                <a:solidFill>
                  <a:srgbClr val="1E7A4F"/>
                </a:solidFill>
              </a:rPr>
              <a:t>Écart capteurs ±0,3 °C</a:t>
            </a:r>
            <a:endParaRPr lang="en-US" sz="1300" dirty="0"/>
          </a:p>
        </p:txBody>
      </p:sp>
      <p:sp>
        <p:nvSpPr>
          <p:cNvPr id="17" name="Shape 15"/>
          <p:cNvSpPr/>
          <p:nvPr/>
        </p:nvSpPr>
        <p:spPr>
          <a:xfrm>
            <a:off x="6263640" y="1874520"/>
            <a:ext cx="365760" cy="365760"/>
          </a:xfrm>
          <a:prstGeom prst="ellipse">
            <a:avLst/>
          </a:prstGeom>
          <a:solidFill>
            <a:srgbClr val="FFFFFF"/>
          </a:solidFill>
          <a:ln w="25400">
            <a:solidFill>
              <a:srgbClr val="102D4B"/>
            </a:solidFill>
            <a:prstDash val="solid"/>
          </a:ln>
        </p:spPr>
      </p:sp>
      <p:sp>
        <p:nvSpPr>
          <p:cNvPr id="18" name="Text 16"/>
          <p:cNvSpPr txBox="1"/>
          <p:nvPr/>
        </p:nvSpPr>
        <p:spPr>
          <a:xfrm>
            <a:off x="6126480" y="1371600"/>
            <a:ext cx="2560320" cy="365760"/>
          </a:xfrm>
          <a:prstGeom prst="rect">
            <a:avLst/>
          </a:prstGeom>
          <a:noFill/>
          <a:ln/>
        </p:spPr>
        <p:txBody>
          <a:bodyPr wrap="square" lIns="0" tIns="0" rIns="0" bIns="0" rtlCol="0" anchor="ctr"/>
          <a:lstStyle/>
          <a:p>
            <a:pPr indent="0" marL="0">
              <a:buNone/>
            </a:pPr>
            <a:r>
              <a:rPr lang="en-US" sz="1300" b="1" dirty="0">
                <a:solidFill>
                  <a:srgbClr val="1F4C78"/>
                </a:solidFill>
              </a:rPr>
              <a:t>3–6 mois</a:t>
            </a:r>
            <a:endParaRPr lang="en-US" sz="1300" dirty="0"/>
          </a:p>
        </p:txBody>
      </p:sp>
      <p:sp>
        <p:nvSpPr>
          <p:cNvPr id="19" name="Shape 17"/>
          <p:cNvSpPr/>
          <p:nvPr/>
        </p:nvSpPr>
        <p:spPr>
          <a:xfrm>
            <a:off x="6126480" y="2514600"/>
            <a:ext cx="2606040" cy="3520440"/>
          </a:xfrm>
          <a:prstGeom prst="roundRect">
            <a:avLst>
              <a:gd name="adj" fmla="val 4211"/>
            </a:avLst>
          </a:prstGeom>
          <a:solidFill>
            <a:srgbClr val="F2F7FC"/>
          </a:solidFill>
          <a:ln w="12700">
            <a:solidFill>
              <a:srgbClr val="F2F7FC"/>
            </a:solidFill>
            <a:prstDash val="solid"/>
          </a:ln>
        </p:spPr>
      </p:sp>
      <p:sp>
        <p:nvSpPr>
          <p:cNvPr id="20" name="Text 18"/>
          <p:cNvSpPr txBox="1"/>
          <p:nvPr/>
        </p:nvSpPr>
        <p:spPr>
          <a:xfrm>
            <a:off x="6327648" y="2670048"/>
            <a:ext cx="2240280" cy="411480"/>
          </a:xfrm>
          <a:prstGeom prst="rect">
            <a:avLst/>
          </a:prstGeom>
          <a:noFill/>
          <a:ln/>
        </p:spPr>
        <p:txBody>
          <a:bodyPr wrap="square" lIns="0" tIns="0" rIns="0" bIns="0" rtlCol="0" anchor="ctr"/>
          <a:lstStyle/>
          <a:p>
            <a:pPr indent="0" marL="0">
              <a:buNone/>
            </a:pPr>
            <a:r>
              <a:rPr lang="en-US" sz="1900" b="1" dirty="0">
                <a:solidFill>
                  <a:srgbClr val="102D4B"/>
                </a:solidFill>
              </a:rPr>
              <a:t>Pilote</a:t>
            </a:r>
            <a:endParaRPr lang="en-US" sz="1900" dirty="0"/>
          </a:p>
        </p:txBody>
      </p:sp>
      <p:sp>
        <p:nvSpPr>
          <p:cNvPr id="21" name="Text 19"/>
          <p:cNvSpPr txBox="1"/>
          <p:nvPr/>
        </p:nvSpPr>
        <p:spPr>
          <a:xfrm>
            <a:off x="6327648" y="3154680"/>
            <a:ext cx="224028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A5B6E"/>
                </a:solidFill>
              </a:rPr>
              <a:t>30–50 patients à haut risque, 3 mois</a:t>
            </a:r>
            <a:endParaRPr lang="en-US" sz="1300" dirty="0"/>
          </a:p>
          <a:p>
            <a:pPr marL="342900" indent="-342900">
              <a:spcAft>
                <a:spcPts val="600"/>
              </a:spcAft>
              <a:buSzPct val="100000"/>
              <a:buChar char="•"/>
            </a:pPr>
            <a:r>
              <a:rPr lang="en-US" sz="1300" dirty="0">
                <a:solidFill>
                  <a:srgbClr val="4A5B6E"/>
                </a:solidFill>
              </a:rPr>
              <a:t>TLS partout, clés Keystore</a:t>
            </a:r>
            <a:endParaRPr lang="en-US" sz="1300" dirty="0"/>
          </a:p>
          <a:p>
            <a:pPr marL="342900" indent="-342900">
              <a:spcAft>
                <a:spcPts val="600"/>
              </a:spcAft>
              <a:buSzPct val="100000"/>
              <a:buChar char="•"/>
            </a:pPr>
            <a:r>
              <a:rPr lang="en-US" sz="1300" dirty="0">
                <a:solidFill>
                  <a:srgbClr val="4A5B6E"/>
                </a:solidFill>
              </a:rPr>
              <a:t>Tableau de bord en routine</a:t>
            </a:r>
            <a:endParaRPr lang="en-US" sz="1300" dirty="0"/>
          </a:p>
        </p:txBody>
      </p:sp>
      <p:sp>
        <p:nvSpPr>
          <p:cNvPr id="22" name="Text 20"/>
          <p:cNvSpPr txBox="1"/>
          <p:nvPr/>
        </p:nvSpPr>
        <p:spPr>
          <a:xfrm>
            <a:off x="6327648" y="5120640"/>
            <a:ext cx="2240280" cy="777240"/>
          </a:xfrm>
          <a:prstGeom prst="rect">
            <a:avLst/>
          </a:prstGeom>
          <a:noFill/>
          <a:ln/>
        </p:spPr>
        <p:txBody>
          <a:bodyPr wrap="square" lIns="0" tIns="0" rIns="0" bIns="0" rtlCol="0" anchor="t"/>
          <a:lstStyle/>
          <a:p>
            <a:pPr indent="0" marL="0">
              <a:buNone/>
            </a:pPr>
            <a:r>
              <a:rPr lang="en-US" sz="1300" b="1" dirty="0">
                <a:solidFill>
                  <a:srgbClr val="1E7A4F"/>
                </a:solidFill>
              </a:rPr>
              <a:t>≥ 80 % de jours scannés · revue &lt; 24 h</a:t>
            </a:r>
            <a:endParaRPr lang="en-US" sz="1300" dirty="0"/>
          </a:p>
        </p:txBody>
      </p:sp>
      <p:sp>
        <p:nvSpPr>
          <p:cNvPr id="23" name="Shape 21"/>
          <p:cNvSpPr/>
          <p:nvPr/>
        </p:nvSpPr>
        <p:spPr>
          <a:xfrm>
            <a:off x="9052560" y="1874520"/>
            <a:ext cx="365760" cy="365760"/>
          </a:xfrm>
          <a:prstGeom prst="ellipse">
            <a:avLst/>
          </a:prstGeom>
          <a:solidFill>
            <a:srgbClr val="FFFFFF"/>
          </a:solidFill>
          <a:ln w="25400">
            <a:solidFill>
              <a:srgbClr val="102D4B"/>
            </a:solidFill>
            <a:prstDash val="solid"/>
          </a:ln>
        </p:spPr>
      </p:sp>
      <p:sp>
        <p:nvSpPr>
          <p:cNvPr id="24" name="Text 22"/>
          <p:cNvSpPr txBox="1"/>
          <p:nvPr/>
        </p:nvSpPr>
        <p:spPr>
          <a:xfrm>
            <a:off x="8915400" y="1371600"/>
            <a:ext cx="2560320" cy="365760"/>
          </a:xfrm>
          <a:prstGeom prst="rect">
            <a:avLst/>
          </a:prstGeom>
          <a:noFill/>
          <a:ln/>
        </p:spPr>
        <p:txBody>
          <a:bodyPr wrap="square" lIns="0" tIns="0" rIns="0" bIns="0" rtlCol="0" anchor="ctr"/>
          <a:lstStyle/>
          <a:p>
            <a:pPr indent="0" marL="0">
              <a:buNone/>
            </a:pPr>
            <a:r>
              <a:rPr lang="en-US" sz="1300" b="1" dirty="0">
                <a:solidFill>
                  <a:srgbClr val="1F4C78"/>
                </a:solidFill>
              </a:rPr>
              <a:t>6–12 mois</a:t>
            </a:r>
            <a:endParaRPr lang="en-US" sz="1300" dirty="0"/>
          </a:p>
        </p:txBody>
      </p:sp>
      <p:sp>
        <p:nvSpPr>
          <p:cNvPr id="25" name="Shape 23"/>
          <p:cNvSpPr/>
          <p:nvPr/>
        </p:nvSpPr>
        <p:spPr>
          <a:xfrm>
            <a:off x="8915400" y="2514600"/>
            <a:ext cx="2606040" cy="3520440"/>
          </a:xfrm>
          <a:prstGeom prst="roundRect">
            <a:avLst>
              <a:gd name="adj" fmla="val 4211"/>
            </a:avLst>
          </a:prstGeom>
          <a:solidFill>
            <a:srgbClr val="F2F7FC"/>
          </a:solidFill>
          <a:ln w="12700">
            <a:solidFill>
              <a:srgbClr val="F2F7FC"/>
            </a:solidFill>
            <a:prstDash val="solid"/>
          </a:ln>
        </p:spPr>
      </p:sp>
      <p:sp>
        <p:nvSpPr>
          <p:cNvPr id="26" name="Text 24"/>
          <p:cNvSpPr txBox="1"/>
          <p:nvPr/>
        </p:nvSpPr>
        <p:spPr>
          <a:xfrm>
            <a:off x="9116568" y="2670048"/>
            <a:ext cx="2240280" cy="411480"/>
          </a:xfrm>
          <a:prstGeom prst="rect">
            <a:avLst/>
          </a:prstGeom>
          <a:noFill/>
          <a:ln/>
        </p:spPr>
        <p:txBody>
          <a:bodyPr wrap="square" lIns="0" tIns="0" rIns="0" bIns="0" rtlCol="0" anchor="ctr"/>
          <a:lstStyle/>
          <a:p>
            <a:pPr indent="0" marL="0">
              <a:buNone/>
            </a:pPr>
            <a:r>
              <a:rPr lang="en-US" sz="1900" b="1" dirty="0">
                <a:solidFill>
                  <a:srgbClr val="102D4B"/>
                </a:solidFill>
              </a:rPr>
              <a:t>Preuve</a:t>
            </a:r>
            <a:endParaRPr lang="en-US" sz="1900" dirty="0"/>
          </a:p>
        </p:txBody>
      </p:sp>
      <p:sp>
        <p:nvSpPr>
          <p:cNvPr id="27" name="Text 25"/>
          <p:cNvSpPr txBox="1"/>
          <p:nvPr/>
        </p:nvSpPr>
        <p:spPr>
          <a:xfrm>
            <a:off x="9116568" y="3154680"/>
            <a:ext cx="224028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A5B6E"/>
                </a:solidFill>
              </a:rPr>
              <a:t>Étude d'impact sur les ulcères</a:t>
            </a:r>
            <a:endParaRPr lang="en-US" sz="1300" dirty="0"/>
          </a:p>
          <a:p>
            <a:pPr marL="342900" indent="-342900">
              <a:spcAft>
                <a:spcPts val="600"/>
              </a:spcAft>
              <a:buSzPct val="100000"/>
              <a:buChar char="•"/>
            </a:pPr>
            <a:r>
              <a:rPr lang="en-US" sz="1300" dirty="0">
                <a:solidFill>
                  <a:srgbClr val="4A5B6E"/>
                </a:solidFill>
              </a:rPr>
              <a:t>Discussions CNAM</a:t>
            </a:r>
            <a:endParaRPr lang="en-US" sz="1300" dirty="0"/>
          </a:p>
          <a:p>
            <a:pPr marL="342900" indent="-342900">
              <a:spcAft>
                <a:spcPts val="600"/>
              </a:spcAft>
              <a:buSzPct val="100000"/>
              <a:buChar char="•"/>
            </a:pPr>
            <a:r>
              <a:rPr lang="en-US" sz="1300" dirty="0">
                <a:solidFill>
                  <a:srgbClr val="4A5B6E"/>
                </a:solidFill>
              </a:rPr>
              <a:t>Deuxième région</a:t>
            </a:r>
            <a:endParaRPr lang="en-US" sz="1300" dirty="0"/>
          </a:p>
        </p:txBody>
      </p:sp>
      <p:sp>
        <p:nvSpPr>
          <p:cNvPr id="28" name="Text 26"/>
          <p:cNvSpPr txBox="1"/>
          <p:nvPr/>
        </p:nvSpPr>
        <p:spPr>
          <a:xfrm>
            <a:off x="9116568" y="5120640"/>
            <a:ext cx="2240280" cy="777240"/>
          </a:xfrm>
          <a:prstGeom prst="rect">
            <a:avLst/>
          </a:prstGeom>
          <a:noFill/>
          <a:ln/>
        </p:spPr>
        <p:txBody>
          <a:bodyPr wrap="square" lIns="0" tIns="0" rIns="0" bIns="0" rtlCol="0" anchor="t"/>
          <a:lstStyle/>
          <a:p>
            <a:pPr indent="0" marL="0">
              <a:buNone/>
            </a:pPr>
            <a:r>
              <a:rPr lang="en-US" sz="1300" b="1" dirty="0">
                <a:solidFill>
                  <a:srgbClr val="1E7A4F"/>
                </a:solidFill>
              </a:rPr>
              <a:t>Ulcères évités, coût par patient</a:t>
            </a:r>
            <a:endParaRPr lang="en-US" sz="13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8"/>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914400" y="1280160"/>
            <a:ext cx="10332720" cy="1463040"/>
          </a:xfrm>
          <a:prstGeom prst="rect">
            <a:avLst/>
          </a:prstGeom>
          <a:noFill/>
          <a:ln/>
        </p:spPr>
        <p:txBody>
          <a:bodyPr wrap="square" lIns="0" tIns="0" rIns="0" bIns="0" rtlCol="0" anchor="t"/>
          <a:lstStyle/>
          <a:p>
            <a:pPr indent="0" marL="0">
              <a:buNone/>
            </a:pPr>
            <a:r>
              <a:rPr lang="en-US" sz="3600" b="1" dirty="0">
                <a:solidFill>
                  <a:srgbClr val="FFFFFF"/>
                </a:solidFill>
              </a:rPr>
              <a:t>Une amputation commence souvent par une chaleur que personne ne sent.</a:t>
            </a:r>
            <a:endParaRPr lang="en-US" sz="3600" dirty="0"/>
          </a:p>
        </p:txBody>
      </p:sp>
      <p:sp>
        <p:nvSpPr>
          <p:cNvPr id="3" name="Text 1"/>
          <p:cNvSpPr txBox="1"/>
          <p:nvPr/>
        </p:nvSpPr>
        <p:spPr>
          <a:xfrm>
            <a:off x="914400" y="2834640"/>
            <a:ext cx="10332720" cy="731520"/>
          </a:xfrm>
          <a:prstGeom prst="rect">
            <a:avLst/>
          </a:prstGeom>
          <a:noFill/>
          <a:ln/>
        </p:spPr>
        <p:txBody>
          <a:bodyPr wrap="square" lIns="0" tIns="0" rIns="0" bIns="0" rtlCol="0" anchor="ctr"/>
          <a:lstStyle/>
          <a:p>
            <a:pPr indent="0" marL="0">
              <a:buNone/>
            </a:pPr>
            <a:r>
              <a:rPr lang="en-US" sz="2600" dirty="0">
                <a:solidFill>
                  <a:srgbClr val="8DBADB"/>
                </a:solidFill>
              </a:rPr>
              <a:t>Qadam la rend visible — et laisse le médecin décider.</a:t>
            </a:r>
            <a:endParaRPr lang="en-US" sz="2600" dirty="0"/>
          </a:p>
        </p:txBody>
      </p:sp>
      <p:sp>
        <p:nvSpPr>
          <p:cNvPr id="4" name="Shape 2"/>
          <p:cNvSpPr/>
          <p:nvPr/>
        </p:nvSpPr>
        <p:spPr>
          <a:xfrm>
            <a:off x="914400" y="4160520"/>
            <a:ext cx="3291840" cy="2011680"/>
          </a:xfrm>
          <a:prstGeom prst="roundRect">
            <a:avLst>
              <a:gd name="adj" fmla="val 6818"/>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1188720" y="4343400"/>
            <a:ext cx="2743200" cy="1735602"/>
          </a:xfrm>
          <a:prstGeom prst="rect">
            <a:avLst/>
          </a:prstGeom>
        </p:spPr>
      </p:pic>
      <p:sp>
        <p:nvSpPr>
          <p:cNvPr id="6" name="Text 3"/>
          <p:cNvSpPr txBox="1"/>
          <p:nvPr/>
        </p:nvSpPr>
        <p:spPr>
          <a:xfrm>
            <a:off x="4663440" y="4343400"/>
            <a:ext cx="6583680" cy="1645920"/>
          </a:xfrm>
          <a:prstGeom prst="rect">
            <a:avLst/>
          </a:prstGeom>
          <a:noFill/>
          <a:ln/>
        </p:spPr>
        <p:txBody>
          <a:bodyPr wrap="square" lIns="0" tIns="0" rIns="0" bIns="0" rtlCol="0" anchor="ctr"/>
          <a:lstStyle/>
          <a:p>
            <a:pPr indent="0" marL="0">
              <a:buNone/>
            </a:pPr>
            <a:r>
              <a:rPr lang="en-US" sz="2200" b="1" dirty="0">
                <a:solidFill>
                  <a:srgbClr val="FFFFFF"/>
                </a:solidFill>
              </a:rPr>
              <a:t>Un pas par jour, pour garder ses pieds.</a:t>
            </a:r>
            <a:endParaRPr lang="en-US" sz="2200" dirty="0"/>
          </a:p>
          <a:p>
            <a:pPr indent="0" marL="0">
              <a:buNone/>
            </a:pPr>
            <a:r>
              <a:rPr lang="en-US" sz="1800" dirty="0">
                <a:solidFill>
                  <a:srgbClr val="E4EFF8"/>
                </a:solidFill>
              </a:rPr>
              <a:t>Merci · Questions ?</a:t>
            </a:r>
            <a:endParaRPr lang="en-US" sz="2200" dirty="0"/>
          </a:p>
        </p:txBody>
      </p:sp>
    </p:spTree>
  </p:cSld>
  <p:clrMapOvr>
    <a:masterClrMapping/>
  </p:clrMapOvr>
</p:sld>
</file>

<file path=ppt/theme/theme1.xml><?xml version="1.0" encoding="utf-8"?>
<a:theme xmlns:a="http://schemas.openxmlformats.org/drawingml/2006/main" name="Qadam">
  <a:themeElements>
    <a:clrScheme name="Qadam">
      <a:dk1>
        <a:srgbClr val="102D4B"/>
      </a:dk1>
      <a:lt1>
        <a:srgbClr val="FFFFFF"/>
      </a:lt1>
      <a:dk2>
        <a:srgbClr val="4A5B6E"/>
      </a:dk2>
      <a:lt2>
        <a:srgbClr val="F2F7FC"/>
      </a:lt2>
      <a:accent1>
        <a:srgbClr val="1F4C78"/>
      </a:accent1>
      <a:accent2>
        <a:srgbClr val="8DBADB"/>
      </a:accent2>
      <a:accent3>
        <a:srgbClr val="1E7A4F"/>
      </a:accent3>
      <a:accent4>
        <a:srgbClr val="F2A93B"/>
      </a:accent4>
      <a:accent5>
        <a:srgbClr val="B42318"/>
      </a:accent5>
      <a:accent6>
        <a:srgbClr val="5F6B78"/>
      </a:accent6>
      <a:hlink>
        <a:srgbClr val="1F4C78"/>
      </a:hlink>
      <a:folHlink>
        <a:srgbClr val="4A5B6E"/>
      </a:folHlink>
    </a:clrScheme>
    <a:fontScheme name="Qadam">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Qadam — HackCure 2026</dc:title>
  <dc:subject>PptxGenJS Presentation</dc:subject>
  <dc:creator>Équipe Qadam</dc:creator>
  <cp:lastModifiedBy>Équipe Qadam</cp:lastModifiedBy>
  <cp:revision>1</cp:revision>
  <dcterms:created xsi:type="dcterms:W3CDTF">2026-10-11T02:29:27Z</dcterms:created>
  <dcterms:modified xsi:type="dcterms:W3CDTF">2026-10-11T02:29:27Z</dcterms:modified>
</cp:coreProperties>
</file>